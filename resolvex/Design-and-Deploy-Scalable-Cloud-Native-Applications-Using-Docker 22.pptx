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Bricolage Grotesque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</p:embeddedFont>
    <p:embeddedFont>
      <p:font typeface="Montserrat Bold" panose="00000800000000000000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D5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0E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087100" y="0"/>
            <a:ext cx="7200900" cy="10287000"/>
            <a:chOff x="0" y="0"/>
            <a:chExt cx="96012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92238" y="2827582"/>
            <a:ext cx="9445523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Design and Deploy Scalable Cloud-Native Applications Using Docker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5271049"/>
            <a:ext cx="9445523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ResolveX — Smart Student Complaint Management System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5964136"/>
            <a:ext cx="9445523" cy="1502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 full-stack, containerized platform built with React, Node.js, Docker, and AWS EC2 — demonstrating modern cloud-native architecture and DevOps best practices.</a:t>
            </a:r>
          </a:p>
          <a:p>
            <a:pPr algn="l">
              <a:lnSpc>
                <a:spcPts val="3032"/>
              </a:lnSpc>
            </a:pPr>
            <a:r>
              <a:rPr lang="en-US" sz="1900" b="1" dirty="0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By:</a:t>
            </a:r>
            <a:r>
              <a:rPr lang="en-US" sz="190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[Khushboo </a:t>
            </a:r>
            <a:r>
              <a:rPr lang="en-US" sz="1900" dirty="0" err="1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shukla</a:t>
            </a:r>
            <a:r>
              <a:rPr lang="en-US" sz="190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] 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D5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0E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087100" y="0"/>
            <a:ext cx="7200900" cy="10287000"/>
            <a:chOff x="0" y="0"/>
            <a:chExt cx="96012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87476" y="838495"/>
            <a:ext cx="2410425" cy="386658"/>
            <a:chOff x="0" y="0"/>
            <a:chExt cx="3213900" cy="5155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13862" cy="515493"/>
            </a:xfrm>
            <a:custGeom>
              <a:avLst/>
              <a:gdLst/>
              <a:ahLst/>
              <a:cxnLst/>
              <a:rect l="l" t="t" r="r" b="b"/>
              <a:pathLst>
                <a:path w="3213862" h="515493">
                  <a:moveTo>
                    <a:pt x="0" y="113919"/>
                  </a:moveTo>
                  <a:cubicBezTo>
                    <a:pt x="0" y="51054"/>
                    <a:pt x="51054" y="0"/>
                    <a:pt x="113919" y="0"/>
                  </a:cubicBezTo>
                  <a:lnTo>
                    <a:pt x="3099943" y="0"/>
                  </a:lnTo>
                  <a:cubicBezTo>
                    <a:pt x="3162935" y="0"/>
                    <a:pt x="3213862" y="51054"/>
                    <a:pt x="3213862" y="113919"/>
                  </a:cubicBezTo>
                  <a:lnTo>
                    <a:pt x="3213862" y="401574"/>
                  </a:lnTo>
                  <a:cubicBezTo>
                    <a:pt x="3213862" y="464566"/>
                    <a:pt x="3162808" y="515493"/>
                    <a:pt x="3099943" y="515493"/>
                  </a:cubicBezTo>
                  <a:lnTo>
                    <a:pt x="113919" y="515493"/>
                  </a:lnTo>
                  <a:cubicBezTo>
                    <a:pt x="51054" y="515493"/>
                    <a:pt x="0" y="464566"/>
                    <a:pt x="0" y="401574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1476" r="-1" b="-71486"/>
              </a:stretch>
            </a:blipFill>
            <a:ln w="9526" cap="sq">
              <a:solidFill>
                <a:srgbClr val="EEAEF6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41066" y="917677"/>
            <a:ext cx="3017644" cy="22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>
                <a:solidFill>
                  <a:srgbClr val="EEAEF6"/>
                </a:solidFill>
                <a:latin typeface="Montserrat"/>
                <a:ea typeface="Montserrat"/>
                <a:cs typeface="Montserrat"/>
                <a:sym typeface="Montserrat"/>
              </a:rPr>
              <a:t>PROJECT OVERVIEW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1290933"/>
            <a:ext cx="9445523" cy="80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Is ResolveX?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2390480"/>
            <a:ext cx="9445523" cy="2060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ResolveX is a </a:t>
            </a:r>
            <a:r>
              <a:rPr lang="en-US" sz="1900" b="1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cloud-native, full-stack complaint management platform</a:t>
            </a: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that enables students to register, track, and manage complaints online — while administrators monitor, prioritize, and resolve them through a centralized dashboard. Built with modern architecture and deployed via </a:t>
            </a:r>
            <a:r>
              <a:rPr lang="en-US" sz="1900" b="1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Docker containers on AWS EC2</a:t>
            </a: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238" y="4730353"/>
            <a:ext cx="4598794" cy="2629643"/>
            <a:chOff x="0" y="0"/>
            <a:chExt cx="6131725" cy="350619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131687" cy="3506216"/>
            </a:xfrm>
            <a:custGeom>
              <a:avLst/>
              <a:gdLst/>
              <a:ahLst/>
              <a:cxnLst/>
              <a:rect l="l" t="t" r="r" b="b"/>
              <a:pathLst>
                <a:path w="6131687" h="3506216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5992749" y="0"/>
                  </a:lnTo>
                  <a:cubicBezTo>
                    <a:pt x="6069457" y="0"/>
                    <a:pt x="6131687" y="62230"/>
                    <a:pt x="6131687" y="138938"/>
                  </a:cubicBezTo>
                  <a:lnTo>
                    <a:pt x="6131687" y="3367278"/>
                  </a:lnTo>
                  <a:cubicBezTo>
                    <a:pt x="6131687" y="3443986"/>
                    <a:pt x="6069457" y="3506216"/>
                    <a:pt x="5992749" y="3506216"/>
                  </a:cubicBezTo>
                  <a:lnTo>
                    <a:pt x="138938" y="3506216"/>
                  </a:lnTo>
                  <a:cubicBezTo>
                    <a:pt x="62230" y="3506216"/>
                    <a:pt x="0" y="3443986"/>
                    <a:pt x="0" y="3367278"/>
                  </a:cubicBezTo>
                  <a:close/>
                </a:path>
              </a:pathLst>
            </a:custGeom>
            <a:solidFill>
              <a:srgbClr val="282D5E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40184" y="4968773"/>
            <a:ext cx="4102894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🎓</a:t>
            </a:r>
            <a:r>
              <a:rPr lang="en-US" sz="24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Student Portal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0184" y="5448148"/>
            <a:ext cx="4102894" cy="166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Secure login, complaint submission, real-time status tracking, and full complaint history — all in one place.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838977" y="4730353"/>
            <a:ext cx="4598794" cy="2629643"/>
            <a:chOff x="0" y="0"/>
            <a:chExt cx="6131725" cy="35061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131687" cy="3506216"/>
            </a:xfrm>
            <a:custGeom>
              <a:avLst/>
              <a:gdLst/>
              <a:ahLst/>
              <a:cxnLst/>
              <a:rect l="l" t="t" r="r" b="b"/>
              <a:pathLst>
                <a:path w="6131687" h="3506216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5992749" y="0"/>
                  </a:lnTo>
                  <a:cubicBezTo>
                    <a:pt x="6069457" y="0"/>
                    <a:pt x="6131687" y="62230"/>
                    <a:pt x="6131687" y="138938"/>
                  </a:cubicBezTo>
                  <a:lnTo>
                    <a:pt x="6131687" y="3367278"/>
                  </a:lnTo>
                  <a:cubicBezTo>
                    <a:pt x="6131687" y="3443986"/>
                    <a:pt x="6069457" y="3506216"/>
                    <a:pt x="5992749" y="3506216"/>
                  </a:cubicBezTo>
                  <a:lnTo>
                    <a:pt x="138938" y="3506216"/>
                  </a:lnTo>
                  <a:cubicBezTo>
                    <a:pt x="62230" y="3506216"/>
                    <a:pt x="0" y="3443986"/>
                    <a:pt x="0" y="3367278"/>
                  </a:cubicBezTo>
                  <a:close/>
                </a:path>
              </a:pathLst>
            </a:custGeom>
            <a:solidFill>
              <a:srgbClr val="282D5E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6086923" y="4968773"/>
            <a:ext cx="4102894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🔧</a:t>
            </a:r>
            <a:r>
              <a:rPr lang="en-US" sz="24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Admin Dashboard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86923" y="5448148"/>
            <a:ext cx="4102894" cy="166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Centralized management, analytics, user oversight, and resolution workflow controls for administrators.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92238" y="7607941"/>
            <a:ext cx="9445523" cy="1835791"/>
            <a:chOff x="0" y="0"/>
            <a:chExt cx="12594031" cy="244772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594082" cy="2447671"/>
            </a:xfrm>
            <a:custGeom>
              <a:avLst/>
              <a:gdLst/>
              <a:ahLst/>
              <a:cxnLst/>
              <a:rect l="l" t="t" r="r" b="b"/>
              <a:pathLst>
                <a:path w="12594082" h="2447671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12455144" y="0"/>
                  </a:lnTo>
                  <a:cubicBezTo>
                    <a:pt x="12531851" y="0"/>
                    <a:pt x="12594082" y="62230"/>
                    <a:pt x="12594082" y="138938"/>
                  </a:cubicBezTo>
                  <a:lnTo>
                    <a:pt x="12594082" y="2308733"/>
                  </a:lnTo>
                  <a:cubicBezTo>
                    <a:pt x="12594082" y="2385441"/>
                    <a:pt x="12531851" y="2447671"/>
                    <a:pt x="12455144" y="2447671"/>
                  </a:cubicBezTo>
                  <a:lnTo>
                    <a:pt x="138938" y="2447671"/>
                  </a:lnTo>
                  <a:cubicBezTo>
                    <a:pt x="62230" y="2447671"/>
                    <a:pt x="0" y="2385568"/>
                    <a:pt x="0" y="2308733"/>
                  </a:cubicBezTo>
                  <a:close/>
                </a:path>
              </a:pathLst>
            </a:custGeom>
            <a:solidFill>
              <a:srgbClr val="282D5E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240184" y="7846371"/>
            <a:ext cx="8949633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☁️</a:t>
            </a:r>
            <a:r>
              <a:rPr lang="en-US" sz="24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Cloud Deployment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0184" y="8325745"/>
            <a:ext cx="8949633" cy="870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Containerized with Docker Compose and hosted on AWS EC2 for high availability and seamless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D5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25400" y="69647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0E3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92238" y="885977"/>
            <a:ext cx="16303523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Problem — and How ResolveX Solves It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1438123"/>
            <a:ext cx="8000552" cy="2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24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⚠️</a:t>
            </a:r>
            <a:r>
              <a:rPr lang="en-US" sz="2400" dirty="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Current Challenges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15438" y="1376209"/>
            <a:ext cx="8179146" cy="2715254"/>
            <a:chOff x="0" y="0"/>
            <a:chExt cx="10905528" cy="15585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05617" cy="1558544"/>
            </a:xfrm>
            <a:custGeom>
              <a:avLst/>
              <a:gdLst/>
              <a:ahLst/>
              <a:cxnLst/>
              <a:rect l="l" t="t" r="r" b="b"/>
              <a:pathLst>
                <a:path w="10905617" h="1558544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10786491" y="0"/>
                  </a:lnTo>
                  <a:cubicBezTo>
                    <a:pt x="10852277" y="0"/>
                    <a:pt x="10905617" y="53340"/>
                    <a:pt x="10905617" y="119126"/>
                  </a:cubicBezTo>
                  <a:lnTo>
                    <a:pt x="10905617" y="1439418"/>
                  </a:lnTo>
                  <a:cubicBezTo>
                    <a:pt x="10905617" y="1505204"/>
                    <a:pt x="10852277" y="1558544"/>
                    <a:pt x="10786491" y="1558544"/>
                  </a:cubicBezTo>
                  <a:lnTo>
                    <a:pt x="119126" y="1558544"/>
                  </a:lnTo>
                  <a:cubicBezTo>
                    <a:pt x="53340" y="1558544"/>
                    <a:pt x="0" y="1505204"/>
                    <a:pt x="0" y="1439418"/>
                  </a:cubicBezTo>
                  <a:close/>
                </a:path>
              </a:pathLst>
            </a:custGeom>
            <a:solidFill>
              <a:srgbClr val="EEAEF6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339415" y="1438123"/>
            <a:ext cx="7931201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✅ The ResolveX Solution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39415" y="1693812"/>
            <a:ext cx="7931201" cy="180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7170" lvl="1" indent="-108585" algn="l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Online complaint registration with secure JWT authentication</a:t>
            </a:r>
          </a:p>
          <a:p>
            <a:pPr marL="217170" lvl="1" indent="-108585" algn="l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Real-time tracking and automated status updates</a:t>
            </a:r>
          </a:p>
          <a:p>
            <a:pPr marL="217170" lvl="1" indent="-108585" algn="l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Centralized admin dashboard with analytics</a:t>
            </a:r>
          </a:p>
          <a:p>
            <a:pPr marL="217170" lvl="1" indent="-108585" algn="l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Containerized deployment using Docker on AWS EC2</a:t>
            </a:r>
          </a:p>
          <a:p>
            <a:pPr marL="217170" lvl="1" indent="-108585" algn="l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Scalable, cloud-ready architecture for any institution</a:t>
            </a:r>
            <a:endParaRPr lang="en-US" sz="12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700558" y="2926025"/>
            <a:ext cx="14836083" cy="7858125"/>
            <a:chOff x="0" y="0"/>
            <a:chExt cx="19781444" cy="104775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9781393" cy="10477500"/>
            </a:xfrm>
            <a:custGeom>
              <a:avLst/>
              <a:gdLst/>
              <a:ahLst/>
              <a:cxnLst/>
              <a:rect l="l" t="t" r="r" b="b"/>
              <a:pathLst>
                <a:path w="19781393" h="10477500">
                  <a:moveTo>
                    <a:pt x="0" y="0"/>
                  </a:moveTo>
                  <a:lnTo>
                    <a:pt x="19781393" y="0"/>
                  </a:lnTo>
                  <a:lnTo>
                    <a:pt x="19781393" y="10477500"/>
                  </a:lnTo>
                  <a:lnTo>
                    <a:pt x="0" y="1047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" r="-13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3780063" y="8221418"/>
            <a:ext cx="3668211" cy="46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4"/>
              </a:lnSpc>
            </a:pPr>
            <a:r>
              <a:rPr lang="en-US" sz="2799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Student Registers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19211" y="8877043"/>
            <a:ext cx="3929062" cy="21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52"/>
              </a:lnSpc>
            </a:pPr>
            <a:r>
              <a:rPr lang="en-US" sz="23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Create account and log in.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45388" y="4311265"/>
            <a:ext cx="3668211" cy="46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4"/>
              </a:lnSpc>
            </a:pPr>
            <a:r>
              <a:rPr lang="en-US" sz="2799" dirty="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Submit Complaint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65341" y="4817635"/>
            <a:ext cx="3929062" cy="21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52"/>
              </a:lnSpc>
            </a:pPr>
            <a:r>
              <a:rPr lang="en-US" sz="230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File issue through portal.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46987" y="4279039"/>
            <a:ext cx="3668211" cy="46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dirty="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Admin Reviews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984617" y="4755464"/>
            <a:ext cx="3929062" cy="49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230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Manage case via dashboard.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74010" y="8221675"/>
            <a:ext cx="3668211" cy="46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Resolve &amp; Update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74010" y="8877300"/>
            <a:ext cx="3929062" cy="49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23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Close case and notify student.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238" y="10542537"/>
            <a:ext cx="17217923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 streamlined, end-to-end workflow eliminates manual overhead and ensures full traceability from submission to resolution.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1A4481-3A44-6059-E2E1-58AD5715F561}"/>
              </a:ext>
            </a:extLst>
          </p:cNvPr>
          <p:cNvSpPr txBox="1"/>
          <p:nvPr/>
        </p:nvSpPr>
        <p:spPr>
          <a:xfrm>
            <a:off x="879352" y="445774"/>
            <a:ext cx="4113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PROBLEM  &amp; SOLUTION</a:t>
            </a:r>
            <a:endParaRPr lang="en-IN" sz="2800" dirty="0">
              <a:solidFill>
                <a:srgbClr val="7030A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E51782-20F9-1786-EDDF-3D4E0DFDA407}"/>
              </a:ext>
            </a:extLst>
          </p:cNvPr>
          <p:cNvSpPr txBox="1"/>
          <p:nvPr/>
        </p:nvSpPr>
        <p:spPr>
          <a:xfrm>
            <a:off x="867949" y="1636454"/>
            <a:ext cx="67594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7170" lvl="1" indent="-108585">
              <a:buFont typeface="Arial"/>
              <a:buChar char="•"/>
            </a:pPr>
            <a:r>
              <a:rPr lang="en-US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Delayed complaint resolution with no clear accountability</a:t>
            </a:r>
          </a:p>
          <a:p>
            <a:pPr marL="217170" lvl="1" indent="-108585">
              <a:buFont typeface="Arial"/>
              <a:buChar char="•"/>
            </a:pPr>
            <a:r>
              <a:rPr lang="en-US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Lack of transparency and no centralized tracking</a:t>
            </a:r>
          </a:p>
          <a:p>
            <a:pPr marL="217170" lvl="1" indent="-108585">
              <a:buFont typeface="Arial"/>
              <a:buChar char="•"/>
            </a:pPr>
            <a:r>
              <a:rPr lang="en-US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Poor communication between students and administrators</a:t>
            </a:r>
          </a:p>
          <a:p>
            <a:pPr marL="217170" lvl="1" indent="-108585">
              <a:buFont typeface="Arial"/>
              <a:buChar char="•"/>
            </a:pPr>
            <a:r>
              <a:rPr lang="en-US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Manual, error-prone administration processes</a:t>
            </a:r>
          </a:p>
          <a:p>
            <a:pPr marL="217170" lvl="1" indent="-108585">
              <a:buFont typeface="Arial"/>
              <a:buChar char="•"/>
            </a:pPr>
            <a:r>
              <a:rPr lang="en-US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Difficult deployment and limited scalability</a:t>
            </a:r>
            <a:endParaRPr lang="en-US" sz="900" dirty="0">
              <a:solidFill>
                <a:srgbClr val="E5DCE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D5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0E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76" y="677466"/>
            <a:ext cx="2215610" cy="351234"/>
            <a:chOff x="0" y="0"/>
            <a:chExt cx="2954147" cy="4683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54020" cy="468249"/>
            </a:xfrm>
            <a:custGeom>
              <a:avLst/>
              <a:gdLst/>
              <a:ahLst/>
              <a:cxnLst/>
              <a:rect l="l" t="t" r="r" b="b"/>
              <a:pathLst>
                <a:path w="2954020" h="468249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2850515" y="0"/>
                  </a:lnTo>
                  <a:cubicBezTo>
                    <a:pt x="2907665" y="0"/>
                    <a:pt x="2954020" y="46355"/>
                    <a:pt x="2954020" y="103505"/>
                  </a:cubicBezTo>
                  <a:lnTo>
                    <a:pt x="2954020" y="364744"/>
                  </a:lnTo>
                  <a:cubicBezTo>
                    <a:pt x="2954020" y="421894"/>
                    <a:pt x="2907665" y="468249"/>
                    <a:pt x="2850515" y="468249"/>
                  </a:cubicBezTo>
                  <a:lnTo>
                    <a:pt x="103505" y="468249"/>
                  </a:lnTo>
                  <a:cubicBezTo>
                    <a:pt x="46355" y="468376"/>
                    <a:pt x="0" y="422021"/>
                    <a:pt x="0" y="36474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922" r="-4" b="-72936"/>
              </a:stretch>
            </a:blipFill>
            <a:ln w="9526" cap="sq">
              <a:solidFill>
                <a:srgbClr val="EEAEF6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127074" y="749646"/>
            <a:ext cx="2850804" cy="20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2"/>
              </a:lnSpc>
            </a:pPr>
            <a:r>
              <a:rPr lang="en-US" sz="1399">
                <a:solidFill>
                  <a:srgbClr val="EEAEF6"/>
                </a:solidFill>
                <a:latin typeface="Montserrat"/>
                <a:ea typeface="Montserrat"/>
                <a:cs typeface="Montserrat"/>
                <a:sym typeface="Montserrat"/>
              </a:rPr>
              <a:t>TECHNOLOGY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076773"/>
            <a:ext cx="16303523" cy="731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Technologies Powering ResolveX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87476" y="2108749"/>
            <a:ext cx="16313048" cy="3139678"/>
            <a:chOff x="0" y="0"/>
            <a:chExt cx="21750731" cy="41862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50655" cy="4186174"/>
            </a:xfrm>
            <a:custGeom>
              <a:avLst/>
              <a:gdLst/>
              <a:ahLst/>
              <a:cxnLst/>
              <a:rect l="l" t="t" r="r" b="b"/>
              <a:pathLst>
                <a:path w="21750655" h="4186174">
                  <a:moveTo>
                    <a:pt x="0" y="126238"/>
                  </a:moveTo>
                  <a:cubicBezTo>
                    <a:pt x="0" y="56515"/>
                    <a:pt x="56515" y="0"/>
                    <a:pt x="126238" y="0"/>
                  </a:cubicBezTo>
                  <a:lnTo>
                    <a:pt x="21624417" y="0"/>
                  </a:lnTo>
                  <a:cubicBezTo>
                    <a:pt x="21694139" y="0"/>
                    <a:pt x="21750655" y="56515"/>
                    <a:pt x="21750655" y="126238"/>
                  </a:cubicBezTo>
                  <a:lnTo>
                    <a:pt x="21750655" y="4059936"/>
                  </a:lnTo>
                  <a:cubicBezTo>
                    <a:pt x="21750655" y="4129659"/>
                    <a:pt x="21694139" y="4186174"/>
                    <a:pt x="21624417" y="4186174"/>
                  </a:cubicBezTo>
                  <a:lnTo>
                    <a:pt x="126238" y="4186174"/>
                  </a:lnTo>
                  <a:cubicBezTo>
                    <a:pt x="56515" y="4186174"/>
                    <a:pt x="0" y="4129659"/>
                    <a:pt x="0" y="405993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240" b="-51242"/>
              </a:stretch>
            </a:blip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01763" y="2123037"/>
            <a:ext cx="16284473" cy="606323"/>
            <a:chOff x="0" y="0"/>
            <a:chExt cx="21712631" cy="8084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12682" cy="808482"/>
            </a:xfrm>
            <a:custGeom>
              <a:avLst/>
              <a:gdLst/>
              <a:ahLst/>
              <a:cxnLst/>
              <a:rect l="l" t="t" r="r" b="b"/>
              <a:pathLst>
                <a:path w="21712682" h="808482">
                  <a:moveTo>
                    <a:pt x="0" y="0"/>
                  </a:moveTo>
                  <a:lnTo>
                    <a:pt x="21712682" y="0"/>
                  </a:lnTo>
                  <a:lnTo>
                    <a:pt x="21712682" y="808482"/>
                  </a:lnTo>
                  <a:lnTo>
                    <a:pt x="0" y="80848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26944" y="2207123"/>
            <a:ext cx="3716979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1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88504" y="2207123"/>
            <a:ext cx="371221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1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45311" y="2207123"/>
            <a:ext cx="371221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1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02118" y="2207123"/>
            <a:ext cx="371221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1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Containerization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58925" y="2207123"/>
            <a:ext cx="3716979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1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Cloud &amp; DevOps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01763" y="2729360"/>
            <a:ext cx="16284473" cy="949223"/>
            <a:chOff x="0" y="0"/>
            <a:chExt cx="21712631" cy="126563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12682" cy="1265682"/>
            </a:xfrm>
            <a:custGeom>
              <a:avLst/>
              <a:gdLst/>
              <a:ahLst/>
              <a:cxnLst/>
              <a:rect l="l" t="t" r="r" b="b"/>
              <a:pathLst>
                <a:path w="21712682" h="1265682">
                  <a:moveTo>
                    <a:pt x="0" y="0"/>
                  </a:moveTo>
                  <a:lnTo>
                    <a:pt x="21712682" y="0"/>
                  </a:lnTo>
                  <a:lnTo>
                    <a:pt x="21712682" y="1265682"/>
                  </a:lnTo>
                  <a:lnTo>
                    <a:pt x="0" y="12656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226944" y="2813447"/>
            <a:ext cx="28025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React.js, Vite, Tailwind CSS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88504" y="2813447"/>
            <a:ext cx="371221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Node.js, Express.js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45311" y="2813447"/>
            <a:ext cx="371221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MongoDB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02118" y="2813447"/>
            <a:ext cx="279781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Docker, Docker Compose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58925" y="2813447"/>
            <a:ext cx="3716979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AWS EC2, Git, GitHub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01763" y="3678584"/>
            <a:ext cx="16284473" cy="949223"/>
            <a:chOff x="0" y="0"/>
            <a:chExt cx="21712631" cy="126563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712682" cy="1265682"/>
            </a:xfrm>
            <a:custGeom>
              <a:avLst/>
              <a:gdLst/>
              <a:ahLst/>
              <a:cxnLst/>
              <a:rect l="l" t="t" r="r" b="b"/>
              <a:pathLst>
                <a:path w="21712682" h="1265682">
                  <a:moveTo>
                    <a:pt x="0" y="0"/>
                  </a:moveTo>
                  <a:lnTo>
                    <a:pt x="21712682" y="0"/>
                  </a:lnTo>
                  <a:lnTo>
                    <a:pt x="21712682" y="1265682"/>
                  </a:lnTo>
                  <a:lnTo>
                    <a:pt x="0" y="126568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226944" y="3762670"/>
            <a:ext cx="28025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Responsive UI, fast build tooling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488504" y="3762670"/>
            <a:ext cx="371221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RESTful API architecture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45311" y="3762670"/>
            <a:ext cx="279781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Flexible document storage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02118" y="3762670"/>
            <a:ext cx="279781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Multi-container orchestration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258925" y="3762670"/>
            <a:ext cx="28025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Version control, CI/CD-ready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01763" y="4627807"/>
            <a:ext cx="16284473" cy="606323"/>
            <a:chOff x="0" y="0"/>
            <a:chExt cx="21712631" cy="80843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712682" cy="808482"/>
            </a:xfrm>
            <a:custGeom>
              <a:avLst/>
              <a:gdLst/>
              <a:ahLst/>
              <a:cxnLst/>
              <a:rect l="l" t="t" r="r" b="b"/>
              <a:pathLst>
                <a:path w="21712682" h="808482">
                  <a:moveTo>
                    <a:pt x="0" y="0"/>
                  </a:moveTo>
                  <a:lnTo>
                    <a:pt x="21712682" y="0"/>
                  </a:lnTo>
                  <a:lnTo>
                    <a:pt x="21712682" y="808482"/>
                  </a:lnTo>
                  <a:lnTo>
                    <a:pt x="0" y="8084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226944" y="4711903"/>
            <a:ext cx="3716979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1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Auth:</a:t>
            </a: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JWT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88504" y="4711903"/>
            <a:ext cx="371221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 b="1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Reverse Proxy:</a:t>
            </a: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Nginx</a:t>
            </a:r>
          </a:p>
        </p:txBody>
      </p:sp>
      <p:sp>
        <p:nvSpPr>
          <p:cNvPr id="37" name="Freeform 37" descr="preencoded.png"/>
          <p:cNvSpPr/>
          <p:nvPr/>
        </p:nvSpPr>
        <p:spPr>
          <a:xfrm>
            <a:off x="992238" y="5472855"/>
            <a:ext cx="449609" cy="449609"/>
          </a:xfrm>
          <a:custGeom>
            <a:avLst/>
            <a:gdLst/>
            <a:ahLst/>
            <a:cxnLst/>
            <a:rect l="l" t="t" r="r" b="b"/>
            <a:pathLst>
              <a:path w="449609" h="449609">
                <a:moveTo>
                  <a:pt x="0" y="0"/>
                </a:moveTo>
                <a:lnTo>
                  <a:pt x="449609" y="0"/>
                </a:lnTo>
                <a:lnTo>
                  <a:pt x="449609" y="449609"/>
                </a:lnTo>
                <a:lnTo>
                  <a:pt x="0" y="4496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992238" y="6158065"/>
            <a:ext cx="8024365" cy="370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React.js + Vite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92238" y="6602911"/>
            <a:ext cx="8024365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Component-based UI with blazing-fast build tooling and hot module replacement for rapid development.</a:t>
            </a:r>
          </a:p>
        </p:txBody>
      </p:sp>
      <p:sp>
        <p:nvSpPr>
          <p:cNvPr id="40" name="Freeform 40" descr="preencoded.png"/>
          <p:cNvSpPr/>
          <p:nvPr/>
        </p:nvSpPr>
        <p:spPr>
          <a:xfrm>
            <a:off x="9271244" y="5472855"/>
            <a:ext cx="449609" cy="449609"/>
          </a:xfrm>
          <a:custGeom>
            <a:avLst/>
            <a:gdLst/>
            <a:ahLst/>
            <a:cxnLst/>
            <a:rect l="l" t="t" r="r" b="b"/>
            <a:pathLst>
              <a:path w="449609" h="449609">
                <a:moveTo>
                  <a:pt x="0" y="0"/>
                </a:moveTo>
                <a:lnTo>
                  <a:pt x="449609" y="0"/>
                </a:lnTo>
                <a:lnTo>
                  <a:pt x="449609" y="449609"/>
                </a:lnTo>
                <a:lnTo>
                  <a:pt x="0" y="4496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124" r="-3124"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9271244" y="6158065"/>
            <a:ext cx="8024517" cy="370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Node.js + Express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271244" y="6602911"/>
            <a:ext cx="802451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Lightweight RESTful API backend handling business logic, routing, and database interactions.</a:t>
            </a:r>
          </a:p>
        </p:txBody>
      </p:sp>
      <p:sp>
        <p:nvSpPr>
          <p:cNvPr id="43" name="Freeform 43" descr="preencoded.png"/>
          <p:cNvSpPr/>
          <p:nvPr/>
        </p:nvSpPr>
        <p:spPr>
          <a:xfrm>
            <a:off x="992238" y="7743825"/>
            <a:ext cx="449609" cy="449609"/>
          </a:xfrm>
          <a:custGeom>
            <a:avLst/>
            <a:gdLst/>
            <a:ahLst/>
            <a:cxnLst/>
            <a:rect l="l" t="t" r="r" b="b"/>
            <a:pathLst>
              <a:path w="449609" h="449609">
                <a:moveTo>
                  <a:pt x="0" y="0"/>
                </a:moveTo>
                <a:lnTo>
                  <a:pt x="449609" y="0"/>
                </a:lnTo>
                <a:lnTo>
                  <a:pt x="449609" y="449609"/>
                </a:lnTo>
                <a:lnTo>
                  <a:pt x="0" y="4496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7291" b="-7291"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992238" y="8429034"/>
            <a:ext cx="8024365" cy="370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MongoDB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92238" y="8873881"/>
            <a:ext cx="8024365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Schema-flexible NoSQL database ideal for storing complaints, user profiles, and status records.</a:t>
            </a:r>
          </a:p>
        </p:txBody>
      </p:sp>
      <p:sp>
        <p:nvSpPr>
          <p:cNvPr id="46" name="Freeform 46" descr="preencoded.png"/>
          <p:cNvSpPr/>
          <p:nvPr/>
        </p:nvSpPr>
        <p:spPr>
          <a:xfrm>
            <a:off x="9271244" y="7743825"/>
            <a:ext cx="449609" cy="449609"/>
          </a:xfrm>
          <a:custGeom>
            <a:avLst/>
            <a:gdLst/>
            <a:ahLst/>
            <a:cxnLst/>
            <a:rect l="l" t="t" r="r" b="b"/>
            <a:pathLst>
              <a:path w="449609" h="449609">
                <a:moveTo>
                  <a:pt x="0" y="0"/>
                </a:moveTo>
                <a:lnTo>
                  <a:pt x="449609" y="0"/>
                </a:lnTo>
                <a:lnTo>
                  <a:pt x="449609" y="449609"/>
                </a:lnTo>
                <a:lnTo>
                  <a:pt x="0" y="4496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5624" b="-15626"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9271244" y="8429034"/>
            <a:ext cx="8024517" cy="370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Docker Compose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271244" y="8873881"/>
            <a:ext cx="802451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Orchestrates frontend, backend, database, and Nginx as isolated, interconnected containers.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D5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373" y="46118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0E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9482" y="481276"/>
            <a:ext cx="2734317" cy="447738"/>
            <a:chOff x="0" y="0"/>
            <a:chExt cx="2277669" cy="2641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77745" cy="264160"/>
            </a:xfrm>
            <a:custGeom>
              <a:avLst/>
              <a:gdLst/>
              <a:ahLst/>
              <a:cxnLst/>
              <a:rect l="l" t="t" r="r" b="b"/>
              <a:pathLst>
                <a:path w="2277745" h="264160">
                  <a:moveTo>
                    <a:pt x="0" y="58420"/>
                  </a:moveTo>
                  <a:cubicBezTo>
                    <a:pt x="0" y="26162"/>
                    <a:pt x="26162" y="0"/>
                    <a:pt x="58420" y="0"/>
                  </a:cubicBezTo>
                  <a:lnTo>
                    <a:pt x="2219325" y="0"/>
                  </a:lnTo>
                  <a:cubicBezTo>
                    <a:pt x="2251583" y="0"/>
                    <a:pt x="2277745" y="26162"/>
                    <a:pt x="2277745" y="58420"/>
                  </a:cubicBezTo>
                  <a:lnTo>
                    <a:pt x="2277745" y="205740"/>
                  </a:lnTo>
                  <a:cubicBezTo>
                    <a:pt x="2277745" y="237998"/>
                    <a:pt x="2251583" y="264160"/>
                    <a:pt x="2219325" y="264160"/>
                  </a:cubicBezTo>
                  <a:lnTo>
                    <a:pt x="58420" y="264160"/>
                  </a:lnTo>
                  <a:cubicBezTo>
                    <a:pt x="26162" y="264160"/>
                    <a:pt x="0" y="237998"/>
                    <a:pt x="0" y="20574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013" r="3" b="-117998"/>
              </a:stretch>
            </a:blipFill>
            <a:ln w="9526" cap="sq">
              <a:solidFill>
                <a:srgbClr val="EEAEF6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66648" y="709908"/>
            <a:ext cx="2464298" cy="114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6"/>
              </a:lnSpc>
            </a:pPr>
            <a:r>
              <a:rPr lang="en-US" sz="1200" dirty="0">
                <a:solidFill>
                  <a:srgbClr val="EEAEF6"/>
                </a:solidFill>
                <a:latin typeface="Montserrat"/>
                <a:ea typeface="Montserrat"/>
                <a:cs typeface="Montserrat"/>
                <a:sym typeface="Montserrat"/>
              </a:rPr>
              <a:t>ARCHITECTURE &amp; WORKFLOW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885977"/>
            <a:ext cx="16303523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System Architecture &amp; Development Workflow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03237" y="1349873"/>
            <a:ext cx="14630400" cy="7679488"/>
            <a:chOff x="0" y="0"/>
            <a:chExt cx="19507200" cy="1023931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9507200" cy="10239318"/>
            </a:xfrm>
            <a:custGeom>
              <a:avLst/>
              <a:gdLst/>
              <a:ahLst/>
              <a:cxnLst/>
              <a:rect l="l" t="t" r="r" b="b"/>
              <a:pathLst>
                <a:path w="19507200" h="10239318">
                  <a:moveTo>
                    <a:pt x="0" y="0"/>
                  </a:moveTo>
                  <a:lnTo>
                    <a:pt x="19507200" y="0"/>
                  </a:lnTo>
                  <a:lnTo>
                    <a:pt x="19507200" y="10239318"/>
                  </a:lnTo>
                  <a:lnTo>
                    <a:pt x="0" y="10239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581" b="-358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92238" y="9183627"/>
            <a:ext cx="17259148" cy="143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lang="en-US" sz="120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All services run as isolated Docker containers on AWS EC2, communicating through a shared Docker network — ensuring clean separation of concerns and easy horizontal scaling</a:t>
            </a:r>
            <a:r>
              <a:rPr lang="en-US" sz="902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238" y="10645531"/>
            <a:ext cx="16303523" cy="19050"/>
            <a:chOff x="0" y="0"/>
            <a:chExt cx="21738031" cy="25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38082" cy="25400"/>
            </a:xfrm>
            <a:custGeom>
              <a:avLst/>
              <a:gdLst/>
              <a:ahLst/>
              <a:cxnLst/>
              <a:rect l="l" t="t" r="r" b="b"/>
              <a:pathLst>
                <a:path w="21738082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21725382" y="0"/>
                  </a:lnTo>
                  <a:cubicBezTo>
                    <a:pt x="21732368" y="0"/>
                    <a:pt x="21738082" y="5715"/>
                    <a:pt x="21738082" y="12700"/>
                  </a:cubicBezTo>
                  <a:cubicBezTo>
                    <a:pt x="21738082" y="19685"/>
                    <a:pt x="21732368" y="25400"/>
                    <a:pt x="2172538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14677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2582018" y="10397652"/>
            <a:ext cx="19050" cy="247945"/>
            <a:chOff x="0" y="0"/>
            <a:chExt cx="25400" cy="3305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400" cy="330581"/>
            </a:xfrm>
            <a:custGeom>
              <a:avLst/>
              <a:gdLst/>
              <a:ahLst/>
              <a:cxnLst/>
              <a:rect l="l" t="t" r="r" b="b"/>
              <a:pathLst>
                <a:path w="25400" h="33058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317881"/>
                  </a:lnTo>
                  <a:cubicBezTo>
                    <a:pt x="25400" y="324866"/>
                    <a:pt x="19685" y="330581"/>
                    <a:pt x="12700" y="330581"/>
                  </a:cubicBezTo>
                  <a:cubicBezTo>
                    <a:pt x="5715" y="330581"/>
                    <a:pt x="0" y="324866"/>
                    <a:pt x="0" y="317881"/>
                  </a:cubicBezTo>
                  <a:close/>
                </a:path>
              </a:pathLst>
            </a:custGeom>
            <a:solidFill>
              <a:srgbClr val="414677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545032" y="10598944"/>
            <a:ext cx="93021" cy="93021"/>
            <a:chOff x="0" y="0"/>
            <a:chExt cx="124028" cy="1240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079" cy="124079"/>
            </a:xfrm>
            <a:custGeom>
              <a:avLst/>
              <a:gdLst/>
              <a:ahLst/>
              <a:cxnLst/>
              <a:rect l="l" t="t" r="r" b="b"/>
              <a:pathLst>
                <a:path w="124079" h="124079">
                  <a:moveTo>
                    <a:pt x="0" y="61976"/>
                  </a:moveTo>
                  <a:cubicBezTo>
                    <a:pt x="0" y="27813"/>
                    <a:pt x="27813" y="0"/>
                    <a:pt x="61976" y="0"/>
                  </a:cubicBezTo>
                  <a:cubicBezTo>
                    <a:pt x="96139" y="0"/>
                    <a:pt x="124079" y="27813"/>
                    <a:pt x="124079" y="61976"/>
                  </a:cubicBezTo>
                  <a:cubicBezTo>
                    <a:pt x="124079" y="96139"/>
                    <a:pt x="96266" y="124079"/>
                    <a:pt x="61976" y="124079"/>
                  </a:cubicBezTo>
                  <a:cubicBezTo>
                    <a:pt x="27686" y="124079"/>
                    <a:pt x="0" y="96266"/>
                    <a:pt x="0" y="61976"/>
                  </a:cubicBezTo>
                  <a:close/>
                </a:path>
              </a:pathLst>
            </a:custGeom>
            <a:solidFill>
              <a:srgbClr val="EEAEF6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116206" y="9485058"/>
            <a:ext cx="2950816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Requirements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2645" y="9745123"/>
            <a:ext cx="2950816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sz="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Scope definition and feature planning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220023" y="10645454"/>
            <a:ext cx="19050" cy="247945"/>
            <a:chOff x="0" y="0"/>
            <a:chExt cx="25400" cy="33059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5400" cy="330581"/>
            </a:xfrm>
            <a:custGeom>
              <a:avLst/>
              <a:gdLst/>
              <a:ahLst/>
              <a:cxnLst/>
              <a:rect l="l" t="t" r="r" b="b"/>
              <a:pathLst>
                <a:path w="25400" h="33058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317881"/>
                  </a:lnTo>
                  <a:cubicBezTo>
                    <a:pt x="25400" y="324866"/>
                    <a:pt x="19685" y="330581"/>
                    <a:pt x="12700" y="330581"/>
                  </a:cubicBezTo>
                  <a:cubicBezTo>
                    <a:pt x="5715" y="330581"/>
                    <a:pt x="0" y="324866"/>
                    <a:pt x="0" y="317881"/>
                  </a:cubicBezTo>
                  <a:close/>
                </a:path>
              </a:pathLst>
            </a:custGeom>
            <a:solidFill>
              <a:srgbClr val="414677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4183037" y="10598944"/>
            <a:ext cx="93021" cy="93021"/>
            <a:chOff x="0" y="0"/>
            <a:chExt cx="124028" cy="1240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079" cy="124079"/>
            </a:xfrm>
            <a:custGeom>
              <a:avLst/>
              <a:gdLst/>
              <a:ahLst/>
              <a:cxnLst/>
              <a:rect l="l" t="t" r="r" b="b"/>
              <a:pathLst>
                <a:path w="124079" h="124079">
                  <a:moveTo>
                    <a:pt x="0" y="61976"/>
                  </a:moveTo>
                  <a:cubicBezTo>
                    <a:pt x="0" y="27813"/>
                    <a:pt x="27813" y="0"/>
                    <a:pt x="61976" y="0"/>
                  </a:cubicBezTo>
                  <a:cubicBezTo>
                    <a:pt x="96139" y="0"/>
                    <a:pt x="124079" y="27813"/>
                    <a:pt x="124079" y="61976"/>
                  </a:cubicBezTo>
                  <a:cubicBezTo>
                    <a:pt x="124079" y="96139"/>
                    <a:pt x="96266" y="124079"/>
                    <a:pt x="61976" y="124079"/>
                  </a:cubicBezTo>
                  <a:cubicBezTo>
                    <a:pt x="27686" y="124079"/>
                    <a:pt x="0" y="96266"/>
                    <a:pt x="0" y="61976"/>
                  </a:cubicBezTo>
                  <a:close/>
                </a:path>
              </a:pathLst>
            </a:custGeom>
            <a:solidFill>
              <a:srgbClr val="EEAEF6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2754211" y="11017596"/>
            <a:ext cx="2950816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UI Design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54211" y="11248577"/>
            <a:ext cx="2950816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sz="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Wireframes and component mockups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858170" y="10397652"/>
            <a:ext cx="19050" cy="247945"/>
            <a:chOff x="0" y="0"/>
            <a:chExt cx="25400" cy="33059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5400" cy="330581"/>
            </a:xfrm>
            <a:custGeom>
              <a:avLst/>
              <a:gdLst/>
              <a:ahLst/>
              <a:cxnLst/>
              <a:rect l="l" t="t" r="r" b="b"/>
              <a:pathLst>
                <a:path w="25400" h="33058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317881"/>
                  </a:lnTo>
                  <a:cubicBezTo>
                    <a:pt x="25400" y="324866"/>
                    <a:pt x="19685" y="330581"/>
                    <a:pt x="12700" y="330581"/>
                  </a:cubicBezTo>
                  <a:cubicBezTo>
                    <a:pt x="5715" y="330581"/>
                    <a:pt x="0" y="324866"/>
                    <a:pt x="0" y="317881"/>
                  </a:cubicBezTo>
                  <a:close/>
                </a:path>
              </a:pathLst>
            </a:custGeom>
            <a:solidFill>
              <a:srgbClr val="41467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5821185" y="10598944"/>
            <a:ext cx="93021" cy="93021"/>
            <a:chOff x="0" y="0"/>
            <a:chExt cx="124028" cy="1240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4079" cy="124079"/>
            </a:xfrm>
            <a:custGeom>
              <a:avLst/>
              <a:gdLst/>
              <a:ahLst/>
              <a:cxnLst/>
              <a:rect l="l" t="t" r="r" b="b"/>
              <a:pathLst>
                <a:path w="124079" h="124079">
                  <a:moveTo>
                    <a:pt x="0" y="61976"/>
                  </a:moveTo>
                  <a:cubicBezTo>
                    <a:pt x="0" y="27813"/>
                    <a:pt x="27813" y="0"/>
                    <a:pt x="61976" y="0"/>
                  </a:cubicBezTo>
                  <a:cubicBezTo>
                    <a:pt x="96139" y="0"/>
                    <a:pt x="124079" y="27813"/>
                    <a:pt x="124079" y="61976"/>
                  </a:cubicBezTo>
                  <a:cubicBezTo>
                    <a:pt x="124079" y="96139"/>
                    <a:pt x="96266" y="124079"/>
                    <a:pt x="61976" y="124079"/>
                  </a:cubicBezTo>
                  <a:cubicBezTo>
                    <a:pt x="27686" y="124079"/>
                    <a:pt x="0" y="96266"/>
                    <a:pt x="0" y="61976"/>
                  </a:cubicBezTo>
                  <a:close/>
                </a:path>
              </a:pathLst>
            </a:custGeom>
            <a:solidFill>
              <a:srgbClr val="EEAEF6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4401812" y="9480183"/>
            <a:ext cx="2950816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Frontend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38798" y="9790817"/>
            <a:ext cx="2950816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sz="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React + Vite + Tailwind CSS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7496175" y="10645454"/>
            <a:ext cx="19050" cy="247945"/>
            <a:chOff x="0" y="0"/>
            <a:chExt cx="25400" cy="33059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5400" cy="330581"/>
            </a:xfrm>
            <a:custGeom>
              <a:avLst/>
              <a:gdLst/>
              <a:ahLst/>
              <a:cxnLst/>
              <a:rect l="l" t="t" r="r" b="b"/>
              <a:pathLst>
                <a:path w="25400" h="33058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317881"/>
                  </a:lnTo>
                  <a:cubicBezTo>
                    <a:pt x="25400" y="324866"/>
                    <a:pt x="19685" y="330581"/>
                    <a:pt x="12700" y="330581"/>
                  </a:cubicBezTo>
                  <a:cubicBezTo>
                    <a:pt x="5715" y="330581"/>
                    <a:pt x="0" y="324866"/>
                    <a:pt x="0" y="317881"/>
                  </a:cubicBezTo>
                  <a:close/>
                </a:path>
              </a:pathLst>
            </a:custGeom>
            <a:solidFill>
              <a:srgbClr val="414677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7459189" y="10598944"/>
            <a:ext cx="93021" cy="93021"/>
            <a:chOff x="0" y="0"/>
            <a:chExt cx="124028" cy="12402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4079" cy="124079"/>
            </a:xfrm>
            <a:custGeom>
              <a:avLst/>
              <a:gdLst/>
              <a:ahLst/>
              <a:cxnLst/>
              <a:rect l="l" t="t" r="r" b="b"/>
              <a:pathLst>
                <a:path w="124079" h="124079">
                  <a:moveTo>
                    <a:pt x="0" y="61976"/>
                  </a:moveTo>
                  <a:cubicBezTo>
                    <a:pt x="0" y="27813"/>
                    <a:pt x="27813" y="0"/>
                    <a:pt x="61976" y="0"/>
                  </a:cubicBezTo>
                  <a:cubicBezTo>
                    <a:pt x="96139" y="0"/>
                    <a:pt x="124079" y="27813"/>
                    <a:pt x="124079" y="61976"/>
                  </a:cubicBezTo>
                  <a:cubicBezTo>
                    <a:pt x="124079" y="96139"/>
                    <a:pt x="96266" y="124079"/>
                    <a:pt x="61976" y="124079"/>
                  </a:cubicBezTo>
                  <a:cubicBezTo>
                    <a:pt x="27686" y="124079"/>
                    <a:pt x="0" y="96266"/>
                    <a:pt x="0" y="61976"/>
                  </a:cubicBezTo>
                  <a:close/>
                </a:path>
              </a:pathLst>
            </a:custGeom>
            <a:solidFill>
              <a:srgbClr val="EEAEF6"/>
            </a:solidFill>
          </p:spPr>
        </p:sp>
      </p:grpSp>
      <p:sp>
        <p:nvSpPr>
          <p:cNvPr id="37" name="TextBox 37"/>
          <p:cNvSpPr txBox="1"/>
          <p:nvPr/>
        </p:nvSpPr>
        <p:spPr>
          <a:xfrm>
            <a:off x="6030363" y="11017596"/>
            <a:ext cx="2950816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Backend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30363" y="11248577"/>
            <a:ext cx="2950816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sz="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Node.js + Express API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134323" y="10397652"/>
            <a:ext cx="19050" cy="247945"/>
            <a:chOff x="0" y="0"/>
            <a:chExt cx="25400" cy="33059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5400" cy="330581"/>
            </a:xfrm>
            <a:custGeom>
              <a:avLst/>
              <a:gdLst/>
              <a:ahLst/>
              <a:cxnLst/>
              <a:rect l="l" t="t" r="r" b="b"/>
              <a:pathLst>
                <a:path w="25400" h="33058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317881"/>
                  </a:lnTo>
                  <a:cubicBezTo>
                    <a:pt x="25400" y="324866"/>
                    <a:pt x="19685" y="330581"/>
                    <a:pt x="12700" y="330581"/>
                  </a:cubicBezTo>
                  <a:cubicBezTo>
                    <a:pt x="5715" y="330581"/>
                    <a:pt x="0" y="324866"/>
                    <a:pt x="0" y="317881"/>
                  </a:cubicBezTo>
                  <a:close/>
                </a:path>
              </a:pathLst>
            </a:custGeom>
            <a:solidFill>
              <a:srgbClr val="414677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9097347" y="10598944"/>
            <a:ext cx="93021" cy="93021"/>
            <a:chOff x="0" y="0"/>
            <a:chExt cx="124028" cy="1240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4079" cy="124079"/>
            </a:xfrm>
            <a:custGeom>
              <a:avLst/>
              <a:gdLst/>
              <a:ahLst/>
              <a:cxnLst/>
              <a:rect l="l" t="t" r="r" b="b"/>
              <a:pathLst>
                <a:path w="124079" h="124079">
                  <a:moveTo>
                    <a:pt x="0" y="61976"/>
                  </a:moveTo>
                  <a:cubicBezTo>
                    <a:pt x="0" y="27813"/>
                    <a:pt x="27813" y="0"/>
                    <a:pt x="61976" y="0"/>
                  </a:cubicBezTo>
                  <a:cubicBezTo>
                    <a:pt x="96139" y="0"/>
                    <a:pt x="124079" y="27813"/>
                    <a:pt x="124079" y="61976"/>
                  </a:cubicBezTo>
                  <a:cubicBezTo>
                    <a:pt x="124079" y="96139"/>
                    <a:pt x="96266" y="124079"/>
                    <a:pt x="61976" y="124079"/>
                  </a:cubicBezTo>
                  <a:cubicBezTo>
                    <a:pt x="27686" y="124079"/>
                    <a:pt x="0" y="96266"/>
                    <a:pt x="0" y="61976"/>
                  </a:cubicBezTo>
                  <a:close/>
                </a:path>
              </a:pathLst>
            </a:custGeom>
            <a:solidFill>
              <a:srgbClr val="EEAEF6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7658914" y="9480183"/>
            <a:ext cx="2950816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Database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68592" y="9790817"/>
            <a:ext cx="2950816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sz="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MongoDB integration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0772480" y="10645454"/>
            <a:ext cx="19050" cy="247945"/>
            <a:chOff x="0" y="0"/>
            <a:chExt cx="25400" cy="33059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5400" cy="330581"/>
            </a:xfrm>
            <a:custGeom>
              <a:avLst/>
              <a:gdLst/>
              <a:ahLst/>
              <a:cxnLst/>
              <a:rect l="l" t="t" r="r" b="b"/>
              <a:pathLst>
                <a:path w="25400" h="33058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317881"/>
                  </a:lnTo>
                  <a:cubicBezTo>
                    <a:pt x="25400" y="324866"/>
                    <a:pt x="19685" y="330581"/>
                    <a:pt x="12700" y="330581"/>
                  </a:cubicBezTo>
                  <a:cubicBezTo>
                    <a:pt x="5715" y="330581"/>
                    <a:pt x="0" y="324866"/>
                    <a:pt x="0" y="317881"/>
                  </a:cubicBezTo>
                  <a:close/>
                </a:path>
              </a:pathLst>
            </a:custGeom>
            <a:solidFill>
              <a:srgbClr val="414677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0735494" y="10598944"/>
            <a:ext cx="93021" cy="93021"/>
            <a:chOff x="0" y="0"/>
            <a:chExt cx="124028" cy="12402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4079" cy="124079"/>
            </a:xfrm>
            <a:custGeom>
              <a:avLst/>
              <a:gdLst/>
              <a:ahLst/>
              <a:cxnLst/>
              <a:rect l="l" t="t" r="r" b="b"/>
              <a:pathLst>
                <a:path w="124079" h="124079">
                  <a:moveTo>
                    <a:pt x="0" y="61976"/>
                  </a:moveTo>
                  <a:cubicBezTo>
                    <a:pt x="0" y="27813"/>
                    <a:pt x="27813" y="0"/>
                    <a:pt x="61976" y="0"/>
                  </a:cubicBezTo>
                  <a:cubicBezTo>
                    <a:pt x="96139" y="0"/>
                    <a:pt x="124079" y="27813"/>
                    <a:pt x="124079" y="61976"/>
                  </a:cubicBezTo>
                  <a:cubicBezTo>
                    <a:pt x="124079" y="96139"/>
                    <a:pt x="96266" y="124079"/>
                    <a:pt x="61976" y="124079"/>
                  </a:cubicBezTo>
                  <a:cubicBezTo>
                    <a:pt x="27686" y="124079"/>
                    <a:pt x="0" y="96266"/>
                    <a:pt x="0" y="61976"/>
                  </a:cubicBezTo>
                  <a:close/>
                </a:path>
              </a:pathLst>
            </a:custGeom>
            <a:solidFill>
              <a:srgbClr val="EEAEF6"/>
            </a:solidFill>
          </p:spPr>
        </p:sp>
      </p:grpSp>
      <p:sp>
        <p:nvSpPr>
          <p:cNvPr id="49" name="TextBox 49"/>
          <p:cNvSpPr txBox="1"/>
          <p:nvPr/>
        </p:nvSpPr>
        <p:spPr>
          <a:xfrm>
            <a:off x="9306516" y="11017596"/>
            <a:ext cx="2950959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Auth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306516" y="11248577"/>
            <a:ext cx="2950959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sz="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JWT implementation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2410484" y="10397652"/>
            <a:ext cx="19050" cy="247945"/>
            <a:chOff x="0" y="0"/>
            <a:chExt cx="25400" cy="33059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5400" cy="330581"/>
            </a:xfrm>
            <a:custGeom>
              <a:avLst/>
              <a:gdLst/>
              <a:ahLst/>
              <a:cxnLst/>
              <a:rect l="l" t="t" r="r" b="b"/>
              <a:pathLst>
                <a:path w="25400" h="33058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317881"/>
                  </a:lnTo>
                  <a:cubicBezTo>
                    <a:pt x="25400" y="324866"/>
                    <a:pt x="19685" y="330581"/>
                    <a:pt x="12700" y="330581"/>
                  </a:cubicBezTo>
                  <a:cubicBezTo>
                    <a:pt x="5715" y="330581"/>
                    <a:pt x="0" y="324866"/>
                    <a:pt x="0" y="317881"/>
                  </a:cubicBezTo>
                  <a:close/>
                </a:path>
              </a:pathLst>
            </a:custGeom>
            <a:solidFill>
              <a:srgbClr val="414677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2373499" y="10598944"/>
            <a:ext cx="93021" cy="93021"/>
            <a:chOff x="0" y="0"/>
            <a:chExt cx="124028" cy="12402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24079" cy="124079"/>
            </a:xfrm>
            <a:custGeom>
              <a:avLst/>
              <a:gdLst/>
              <a:ahLst/>
              <a:cxnLst/>
              <a:rect l="l" t="t" r="r" b="b"/>
              <a:pathLst>
                <a:path w="124079" h="124079">
                  <a:moveTo>
                    <a:pt x="0" y="61976"/>
                  </a:moveTo>
                  <a:cubicBezTo>
                    <a:pt x="0" y="27813"/>
                    <a:pt x="27813" y="0"/>
                    <a:pt x="61976" y="0"/>
                  </a:cubicBezTo>
                  <a:cubicBezTo>
                    <a:pt x="96139" y="0"/>
                    <a:pt x="124079" y="27813"/>
                    <a:pt x="124079" y="61976"/>
                  </a:cubicBezTo>
                  <a:cubicBezTo>
                    <a:pt x="124079" y="96139"/>
                    <a:pt x="96266" y="124079"/>
                    <a:pt x="61976" y="124079"/>
                  </a:cubicBezTo>
                  <a:cubicBezTo>
                    <a:pt x="27686" y="124079"/>
                    <a:pt x="0" y="96266"/>
                    <a:pt x="0" y="61976"/>
                  </a:cubicBezTo>
                  <a:close/>
                </a:path>
              </a:pathLst>
            </a:custGeom>
            <a:solidFill>
              <a:srgbClr val="EEAEF6"/>
            </a:solidFill>
          </p:spPr>
        </p:sp>
      </p:grpSp>
      <p:sp>
        <p:nvSpPr>
          <p:cNvPr id="55" name="TextBox 55"/>
          <p:cNvSpPr txBox="1"/>
          <p:nvPr/>
        </p:nvSpPr>
        <p:spPr>
          <a:xfrm>
            <a:off x="10914531" y="9551346"/>
            <a:ext cx="2950816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Testing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944708" y="9790817"/>
            <a:ext cx="2950816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sz="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Unit and integration tests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4048632" y="10645454"/>
            <a:ext cx="19050" cy="247945"/>
            <a:chOff x="0" y="0"/>
            <a:chExt cx="25400" cy="33059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5400" cy="330581"/>
            </a:xfrm>
            <a:custGeom>
              <a:avLst/>
              <a:gdLst/>
              <a:ahLst/>
              <a:cxnLst/>
              <a:rect l="l" t="t" r="r" b="b"/>
              <a:pathLst>
                <a:path w="25400" h="33058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317881"/>
                  </a:lnTo>
                  <a:cubicBezTo>
                    <a:pt x="25400" y="324866"/>
                    <a:pt x="19685" y="330581"/>
                    <a:pt x="12700" y="330581"/>
                  </a:cubicBezTo>
                  <a:cubicBezTo>
                    <a:pt x="5715" y="330581"/>
                    <a:pt x="0" y="324866"/>
                    <a:pt x="0" y="317881"/>
                  </a:cubicBezTo>
                  <a:close/>
                </a:path>
              </a:pathLst>
            </a:custGeom>
            <a:solidFill>
              <a:srgbClr val="414677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4011646" y="10598944"/>
            <a:ext cx="93021" cy="93021"/>
            <a:chOff x="0" y="0"/>
            <a:chExt cx="124028" cy="12402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4079" cy="124079"/>
            </a:xfrm>
            <a:custGeom>
              <a:avLst/>
              <a:gdLst/>
              <a:ahLst/>
              <a:cxnLst/>
              <a:rect l="l" t="t" r="r" b="b"/>
              <a:pathLst>
                <a:path w="124079" h="124079">
                  <a:moveTo>
                    <a:pt x="0" y="61976"/>
                  </a:moveTo>
                  <a:cubicBezTo>
                    <a:pt x="0" y="27813"/>
                    <a:pt x="27813" y="0"/>
                    <a:pt x="61976" y="0"/>
                  </a:cubicBezTo>
                  <a:cubicBezTo>
                    <a:pt x="96139" y="0"/>
                    <a:pt x="124079" y="27813"/>
                    <a:pt x="124079" y="61976"/>
                  </a:cubicBezTo>
                  <a:cubicBezTo>
                    <a:pt x="124079" y="96139"/>
                    <a:pt x="96266" y="124079"/>
                    <a:pt x="61976" y="124079"/>
                  </a:cubicBezTo>
                  <a:cubicBezTo>
                    <a:pt x="27686" y="124079"/>
                    <a:pt x="0" y="96266"/>
                    <a:pt x="0" y="61976"/>
                  </a:cubicBezTo>
                  <a:close/>
                </a:path>
              </a:pathLst>
            </a:custGeom>
            <a:solidFill>
              <a:srgbClr val="EEAEF6"/>
            </a:solidFill>
          </p:spPr>
        </p:sp>
      </p:grpSp>
      <p:sp>
        <p:nvSpPr>
          <p:cNvPr id="61" name="TextBox 61"/>
          <p:cNvSpPr txBox="1"/>
          <p:nvPr/>
        </p:nvSpPr>
        <p:spPr>
          <a:xfrm>
            <a:off x="12582820" y="11017596"/>
            <a:ext cx="2950816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Dockerize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582820" y="11248577"/>
            <a:ext cx="2950816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sz="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Containerize all services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5686637" y="10397652"/>
            <a:ext cx="19050" cy="247945"/>
            <a:chOff x="0" y="0"/>
            <a:chExt cx="25400" cy="33059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5400" cy="330581"/>
            </a:xfrm>
            <a:custGeom>
              <a:avLst/>
              <a:gdLst/>
              <a:ahLst/>
              <a:cxnLst/>
              <a:rect l="l" t="t" r="r" b="b"/>
              <a:pathLst>
                <a:path w="25400" h="33058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317881"/>
                  </a:lnTo>
                  <a:cubicBezTo>
                    <a:pt x="25400" y="324866"/>
                    <a:pt x="19685" y="330581"/>
                    <a:pt x="12700" y="330581"/>
                  </a:cubicBezTo>
                  <a:cubicBezTo>
                    <a:pt x="5715" y="330581"/>
                    <a:pt x="0" y="324866"/>
                    <a:pt x="0" y="317881"/>
                  </a:cubicBezTo>
                  <a:close/>
                </a:path>
              </a:pathLst>
            </a:custGeom>
            <a:solidFill>
              <a:srgbClr val="414677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5649651" y="10598944"/>
            <a:ext cx="93021" cy="93021"/>
            <a:chOff x="0" y="0"/>
            <a:chExt cx="124028" cy="12402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24079" cy="124079"/>
            </a:xfrm>
            <a:custGeom>
              <a:avLst/>
              <a:gdLst/>
              <a:ahLst/>
              <a:cxnLst/>
              <a:rect l="l" t="t" r="r" b="b"/>
              <a:pathLst>
                <a:path w="124079" h="124079">
                  <a:moveTo>
                    <a:pt x="0" y="61976"/>
                  </a:moveTo>
                  <a:cubicBezTo>
                    <a:pt x="0" y="27813"/>
                    <a:pt x="27813" y="0"/>
                    <a:pt x="61976" y="0"/>
                  </a:cubicBezTo>
                  <a:cubicBezTo>
                    <a:pt x="96139" y="0"/>
                    <a:pt x="124079" y="27813"/>
                    <a:pt x="124079" y="61976"/>
                  </a:cubicBezTo>
                  <a:cubicBezTo>
                    <a:pt x="124079" y="96139"/>
                    <a:pt x="96266" y="124079"/>
                    <a:pt x="61976" y="124079"/>
                  </a:cubicBezTo>
                  <a:cubicBezTo>
                    <a:pt x="27686" y="124079"/>
                    <a:pt x="0" y="96266"/>
                    <a:pt x="0" y="61976"/>
                  </a:cubicBezTo>
                  <a:close/>
                </a:path>
              </a:pathLst>
            </a:custGeom>
            <a:solidFill>
              <a:srgbClr val="EEAEF6"/>
            </a:solidFill>
          </p:spPr>
        </p:sp>
      </p:grpSp>
      <p:sp>
        <p:nvSpPr>
          <p:cNvPr id="67" name="TextBox 67"/>
          <p:cNvSpPr txBox="1"/>
          <p:nvPr/>
        </p:nvSpPr>
        <p:spPr>
          <a:xfrm>
            <a:off x="14198722" y="9485058"/>
            <a:ext cx="2950816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2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Deploy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171750" y="9790817"/>
            <a:ext cx="2950816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sz="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AWS EC2 live release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D5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0E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62308" y="49472"/>
            <a:ext cx="2795292" cy="774593"/>
            <a:chOff x="-87302" y="73510"/>
            <a:chExt cx="2276475" cy="264160"/>
          </a:xfrm>
        </p:grpSpPr>
        <p:sp>
          <p:nvSpPr>
            <p:cNvPr id="7" name="Freeform 7"/>
            <p:cNvSpPr/>
            <p:nvPr/>
          </p:nvSpPr>
          <p:spPr>
            <a:xfrm>
              <a:off x="-87302" y="73510"/>
              <a:ext cx="2276475" cy="264160"/>
            </a:xfrm>
            <a:custGeom>
              <a:avLst/>
              <a:gdLst/>
              <a:ahLst/>
              <a:cxnLst/>
              <a:rect l="l" t="t" r="r" b="b"/>
              <a:pathLst>
                <a:path w="2276475" h="264160">
                  <a:moveTo>
                    <a:pt x="0" y="58420"/>
                  </a:moveTo>
                  <a:cubicBezTo>
                    <a:pt x="0" y="26162"/>
                    <a:pt x="26162" y="0"/>
                    <a:pt x="58420" y="0"/>
                  </a:cubicBezTo>
                  <a:lnTo>
                    <a:pt x="2218055" y="0"/>
                  </a:lnTo>
                  <a:cubicBezTo>
                    <a:pt x="2250313" y="0"/>
                    <a:pt x="2276475" y="26162"/>
                    <a:pt x="2276475" y="58420"/>
                  </a:cubicBezTo>
                  <a:lnTo>
                    <a:pt x="2276475" y="205740"/>
                  </a:lnTo>
                  <a:cubicBezTo>
                    <a:pt x="2276475" y="237998"/>
                    <a:pt x="2250313" y="264160"/>
                    <a:pt x="2218055" y="264160"/>
                  </a:cubicBezTo>
                  <a:lnTo>
                    <a:pt x="58420" y="264160"/>
                  </a:lnTo>
                  <a:cubicBezTo>
                    <a:pt x="26162" y="264160"/>
                    <a:pt x="0" y="237998"/>
                    <a:pt x="0" y="20574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925" b="-117910"/>
              </a:stretch>
            </a:blipFill>
            <a:ln w="9526" cap="sq">
              <a:solidFill>
                <a:srgbClr val="EEAEF6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52309" y="259919"/>
            <a:ext cx="259095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EEAEF6"/>
                </a:solidFill>
                <a:latin typeface="Montserrat"/>
                <a:ea typeface="Montserrat"/>
                <a:cs typeface="Montserrat"/>
                <a:sym typeface="Montserrat"/>
              </a:rPr>
              <a:t>VERSION CONTROL &amp; DOCKER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885977"/>
            <a:ext cx="16303523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dirty="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Git Workflow &amp; Docker Implementation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02941" y="1376210"/>
            <a:ext cx="6640859" cy="2405062"/>
            <a:chOff x="0" y="0"/>
            <a:chExt cx="10905528" cy="32067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05617" cy="3206750"/>
            </a:xfrm>
            <a:custGeom>
              <a:avLst/>
              <a:gdLst/>
              <a:ahLst/>
              <a:cxnLst/>
              <a:rect l="l" t="t" r="r" b="b"/>
              <a:pathLst>
                <a:path w="10905617" h="3206750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10786491" y="0"/>
                  </a:lnTo>
                  <a:cubicBezTo>
                    <a:pt x="10852277" y="0"/>
                    <a:pt x="10905617" y="53340"/>
                    <a:pt x="10905617" y="119126"/>
                  </a:cubicBezTo>
                  <a:lnTo>
                    <a:pt x="10905617" y="3087624"/>
                  </a:lnTo>
                  <a:cubicBezTo>
                    <a:pt x="10905617" y="3153410"/>
                    <a:pt x="10852277" y="3206750"/>
                    <a:pt x="10786491" y="3206750"/>
                  </a:cubicBezTo>
                  <a:lnTo>
                    <a:pt x="119126" y="3206750"/>
                  </a:lnTo>
                  <a:cubicBezTo>
                    <a:pt x="53340" y="3206750"/>
                    <a:pt x="0" y="3153410"/>
                    <a:pt x="0" y="3087624"/>
                  </a:cubicBezTo>
                  <a:close/>
                </a:path>
              </a:pathLst>
            </a:custGeom>
            <a:solidFill>
              <a:srgbClr val="EEAEF6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26909" y="1438123"/>
            <a:ext cx="7931201" cy="19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Git &amp; GitHub Workflow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6909" y="1693812"/>
            <a:ext cx="7931201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7170" lvl="1" indent="-108585" algn="l">
              <a:buFont typeface="Arial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Initialize repository and stage changes</a:t>
            </a:r>
          </a:p>
          <a:p>
            <a:pPr marL="217170" lvl="1" indent="-108585" algn="l">
              <a:buFont typeface="Arial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Commit with descriptive messages</a:t>
            </a:r>
          </a:p>
          <a:p>
            <a:pPr marL="217170" lvl="1" indent="-108585" algn="l">
              <a:buFont typeface="Arial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Set main branch and push to remote</a:t>
            </a:r>
          </a:p>
          <a:p>
            <a:pPr marL="217170" lvl="1" indent="-108585" algn="l">
              <a:buFont typeface="Arial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Clone and collaborate via GitHub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6909" y="2422922"/>
            <a:ext cx="6516945" cy="1288704"/>
            <a:chOff x="0" y="0"/>
            <a:chExt cx="10574934" cy="17182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74909" cy="1718310"/>
            </a:xfrm>
            <a:custGeom>
              <a:avLst/>
              <a:gdLst/>
              <a:ahLst/>
              <a:cxnLst/>
              <a:rect l="l" t="t" r="r" b="b"/>
              <a:pathLst>
                <a:path w="10574909" h="1718310">
                  <a:moveTo>
                    <a:pt x="0" y="69469"/>
                  </a:moveTo>
                  <a:cubicBezTo>
                    <a:pt x="0" y="31115"/>
                    <a:pt x="31115" y="0"/>
                    <a:pt x="69469" y="0"/>
                  </a:cubicBezTo>
                  <a:lnTo>
                    <a:pt x="10505440" y="0"/>
                  </a:lnTo>
                  <a:cubicBezTo>
                    <a:pt x="10543794" y="0"/>
                    <a:pt x="10574909" y="31115"/>
                    <a:pt x="10574909" y="69469"/>
                  </a:cubicBezTo>
                  <a:lnTo>
                    <a:pt x="10574909" y="1648841"/>
                  </a:lnTo>
                  <a:cubicBezTo>
                    <a:pt x="10574909" y="1687195"/>
                    <a:pt x="10543794" y="1718310"/>
                    <a:pt x="10505440" y="1718310"/>
                  </a:cubicBezTo>
                  <a:lnTo>
                    <a:pt x="69469" y="1718310"/>
                  </a:lnTo>
                  <a:cubicBezTo>
                    <a:pt x="31115" y="1718310"/>
                    <a:pt x="0" y="1687195"/>
                    <a:pt x="0" y="1648841"/>
                  </a:cubicBezTo>
                  <a:close/>
                </a:path>
              </a:pathLst>
            </a:custGeom>
            <a:solidFill>
              <a:srgbClr val="E1A1E9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96830" y="2422921"/>
            <a:ext cx="6640913" cy="2249235"/>
            <a:chOff x="0" y="0"/>
            <a:chExt cx="10591203" cy="17182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91165" cy="1718183"/>
            </a:xfrm>
            <a:custGeom>
              <a:avLst/>
              <a:gdLst/>
              <a:ahLst/>
              <a:cxnLst/>
              <a:rect l="l" t="t" r="r" b="b"/>
              <a:pathLst>
                <a:path w="10591165" h="1718183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10566400" y="0"/>
                  </a:lnTo>
                  <a:cubicBezTo>
                    <a:pt x="10580116" y="0"/>
                    <a:pt x="10591165" y="11049"/>
                    <a:pt x="10591165" y="24765"/>
                  </a:cubicBezTo>
                  <a:lnTo>
                    <a:pt x="10591165" y="1693418"/>
                  </a:lnTo>
                  <a:cubicBezTo>
                    <a:pt x="10591165" y="1707134"/>
                    <a:pt x="10580116" y="1718183"/>
                    <a:pt x="10566400" y="1718183"/>
                  </a:cubicBezTo>
                  <a:lnTo>
                    <a:pt x="24765" y="1718183"/>
                  </a:lnTo>
                  <a:cubicBezTo>
                    <a:pt x="11049" y="1718183"/>
                    <a:pt x="0" y="1707134"/>
                    <a:pt x="0" y="1693418"/>
                  </a:cubicBezTo>
                  <a:close/>
                </a:path>
              </a:pathLst>
            </a:custGeom>
            <a:solidFill>
              <a:srgbClr val="E1A1E9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026909" y="2540019"/>
            <a:ext cx="7673283" cy="1909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</a:t>
            </a:r>
            <a:r>
              <a:rPr lang="en-US" sz="12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init</a:t>
            </a:r>
            <a:endParaRPr lang="en-US" sz="12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add .</a:t>
            </a:r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commit -m "Initial Commit"</a:t>
            </a:r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branch -M main</a:t>
            </a:r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remote add origin</a:t>
            </a:r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push -u origin main</a:t>
            </a:r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clone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84507" y="983528"/>
            <a:ext cx="8000552" cy="213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2000" dirty="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Why Docker?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93819" y="1286611"/>
            <a:ext cx="8080325" cy="163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7994" lvl="1" indent="-108997" algn="l">
              <a:lnSpc>
                <a:spcPct val="150000"/>
              </a:lnSpc>
              <a:buFont typeface="Arial"/>
              <a:buChar char="•"/>
            </a:pPr>
            <a:r>
              <a:rPr lang="en-US" sz="1200" b="1" dirty="0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Portability</a:t>
            </a:r>
            <a:r>
              <a:rPr lang="en-US" sz="120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— Runs identically across any environment</a:t>
            </a:r>
          </a:p>
          <a:p>
            <a:pPr marL="217994" lvl="1" indent="-108997" algn="l">
              <a:lnSpc>
                <a:spcPct val="150000"/>
              </a:lnSpc>
              <a:buFont typeface="Arial"/>
              <a:buChar char="•"/>
            </a:pPr>
            <a:r>
              <a:rPr lang="en-US" sz="1200" b="1" dirty="0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Consistency</a:t>
            </a:r>
            <a:r>
              <a:rPr lang="en-US" sz="120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— Eliminates "works on my machine" issues</a:t>
            </a:r>
          </a:p>
          <a:p>
            <a:pPr marL="217994" lvl="1" indent="-108997" algn="l">
              <a:lnSpc>
                <a:spcPct val="150000"/>
              </a:lnSpc>
              <a:buFont typeface="Arial"/>
              <a:buChar char="•"/>
            </a:pPr>
            <a:r>
              <a:rPr lang="en-US" sz="1200" b="1" dirty="0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Isolation</a:t>
            </a:r>
            <a:r>
              <a:rPr lang="en-US" sz="120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— Each service runs in its own container</a:t>
            </a:r>
          </a:p>
          <a:p>
            <a:pPr marL="217994" lvl="1" indent="-108997" algn="l">
              <a:lnSpc>
                <a:spcPct val="150000"/>
              </a:lnSpc>
              <a:buFont typeface="Arial"/>
              <a:buChar char="•"/>
            </a:pPr>
            <a:r>
              <a:rPr lang="en-US" sz="1200" b="1" dirty="0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Lightweight</a:t>
            </a:r>
            <a:r>
              <a:rPr lang="en-US" sz="120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— Shares host OS kernel, minimal overhead</a:t>
            </a:r>
          </a:p>
          <a:p>
            <a:pPr marL="217994" lvl="1" indent="-108997" algn="l">
              <a:lnSpc>
                <a:spcPct val="150000"/>
              </a:lnSpc>
              <a:buFont typeface="Arial"/>
              <a:buChar char="•"/>
            </a:pPr>
            <a:r>
              <a:rPr lang="en-US" sz="1200" b="1" dirty="0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Scalability</a:t>
            </a:r>
            <a:r>
              <a:rPr lang="en-US" sz="120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— Spin up new instances in seconds</a:t>
            </a:r>
          </a:p>
          <a:p>
            <a:pPr marL="217994" lvl="1" indent="-108997" algn="l">
              <a:lnSpc>
                <a:spcPct val="150000"/>
              </a:lnSpc>
              <a:buFont typeface="Arial"/>
              <a:buChar char="•"/>
            </a:pPr>
            <a:r>
              <a:rPr lang="en-US" sz="1200" b="1" dirty="0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Easy Deployment</a:t>
            </a:r>
            <a:r>
              <a:rPr lang="en-US" sz="120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 — One command to launch the full stack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537719" y="2761131"/>
            <a:ext cx="9207103" cy="8685314"/>
            <a:chOff x="0" y="0"/>
            <a:chExt cx="12276138" cy="11580419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2276201" cy="11580368"/>
            </a:xfrm>
            <a:custGeom>
              <a:avLst/>
              <a:gdLst/>
              <a:ahLst/>
              <a:cxnLst/>
              <a:rect l="l" t="t" r="r" b="b"/>
              <a:pathLst>
                <a:path w="12276201" h="11580368">
                  <a:moveTo>
                    <a:pt x="0" y="0"/>
                  </a:moveTo>
                  <a:lnTo>
                    <a:pt x="12276201" y="0"/>
                  </a:lnTo>
                  <a:lnTo>
                    <a:pt x="12276201" y="11580368"/>
                  </a:lnTo>
                  <a:lnTo>
                    <a:pt x="0" y="11580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" r="-10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8000671" y="7651018"/>
            <a:ext cx="2922899" cy="46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Docker Image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00671" y="8490090"/>
            <a:ext cx="2922899" cy="76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Read-only blueprint with app and dependencies.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16510" y="3913482"/>
            <a:ext cx="2922899" cy="926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Docker Container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16510" y="4693491"/>
            <a:ext cx="2922899" cy="76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Running instance created from an image.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24550" y="7998085"/>
            <a:ext cx="2922899" cy="926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Docker Compose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687676" y="8571887"/>
            <a:ext cx="2922899" cy="76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23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Orchestrates multiple containers as one stack.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238" y="12605890"/>
            <a:ext cx="17217923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Docker Compose ties all services together — frontend, backend, database, and Nginx — into a single, reproducible deployment unit.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D5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0E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76" y="682676"/>
            <a:ext cx="2476348" cy="380552"/>
            <a:chOff x="0" y="0"/>
            <a:chExt cx="3301797" cy="5074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01873" cy="507492"/>
            </a:xfrm>
            <a:custGeom>
              <a:avLst/>
              <a:gdLst/>
              <a:ahLst/>
              <a:cxnLst/>
              <a:rect l="l" t="t" r="r" b="b"/>
              <a:pathLst>
                <a:path w="3301873" h="507492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3189605" y="0"/>
                  </a:lnTo>
                  <a:cubicBezTo>
                    <a:pt x="3251581" y="0"/>
                    <a:pt x="3301873" y="50292"/>
                    <a:pt x="3301873" y="112268"/>
                  </a:cubicBezTo>
                  <a:lnTo>
                    <a:pt x="3301873" y="395224"/>
                  </a:lnTo>
                  <a:cubicBezTo>
                    <a:pt x="3301873" y="457200"/>
                    <a:pt x="3251581" y="507492"/>
                    <a:pt x="3189605" y="507492"/>
                  </a:cubicBezTo>
                  <a:lnTo>
                    <a:pt x="112268" y="507492"/>
                  </a:lnTo>
                  <a:cubicBezTo>
                    <a:pt x="50292" y="507365"/>
                    <a:pt x="0" y="457200"/>
                    <a:pt x="0" y="39522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780" r="2" b="-76762"/>
              </a:stretch>
            </a:blipFill>
            <a:ln w="9526" cap="sq">
              <a:solidFill>
                <a:srgbClr val="EEAEF6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138685" y="760657"/>
            <a:ext cx="3088329" cy="22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>
                <a:solidFill>
                  <a:srgbClr val="EEAEF6"/>
                </a:solidFill>
                <a:latin typeface="Montserrat"/>
                <a:ea typeface="Montserrat"/>
                <a:cs typeface="Montserrat"/>
                <a:sym typeface="Montserrat"/>
              </a:rPr>
              <a:t>DOCKER COMMANDS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126036"/>
            <a:ext cx="16303523" cy="79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Essential Docker Compose Commands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2201913"/>
            <a:ext cx="16303523" cy="851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These commands form the operational backbone of ResolveX deployment — from building images to managing live containers on AWS EC2.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87476" y="3319167"/>
            <a:ext cx="16313048" cy="6285166"/>
            <a:chOff x="0" y="0"/>
            <a:chExt cx="21750731" cy="83802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50655" cy="8380222"/>
            </a:xfrm>
            <a:custGeom>
              <a:avLst/>
              <a:gdLst/>
              <a:ahLst/>
              <a:cxnLst/>
              <a:rect l="l" t="t" r="r" b="b"/>
              <a:pathLst>
                <a:path w="21750655" h="8380222">
                  <a:moveTo>
                    <a:pt x="0" y="136906"/>
                  </a:moveTo>
                  <a:cubicBezTo>
                    <a:pt x="0" y="61341"/>
                    <a:pt x="61341" y="0"/>
                    <a:pt x="136906" y="0"/>
                  </a:cubicBezTo>
                  <a:lnTo>
                    <a:pt x="21613749" y="0"/>
                  </a:lnTo>
                  <a:cubicBezTo>
                    <a:pt x="21689313" y="0"/>
                    <a:pt x="21750655" y="61341"/>
                    <a:pt x="21750655" y="136906"/>
                  </a:cubicBezTo>
                  <a:lnTo>
                    <a:pt x="21750655" y="8243316"/>
                  </a:lnTo>
                  <a:cubicBezTo>
                    <a:pt x="21750655" y="8318881"/>
                    <a:pt x="21689313" y="8380222"/>
                    <a:pt x="21613749" y="8380222"/>
                  </a:cubicBezTo>
                  <a:lnTo>
                    <a:pt x="136906" y="8380222"/>
                  </a:lnTo>
                  <a:cubicBezTo>
                    <a:pt x="61341" y="8380222"/>
                    <a:pt x="0" y="8318881"/>
                    <a:pt x="0" y="824331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" b="-573"/>
              </a:stretch>
            </a:blip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01763" y="3333455"/>
            <a:ext cx="16284473" cy="695173"/>
            <a:chOff x="0" y="0"/>
            <a:chExt cx="21712631" cy="9268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12682" cy="926846"/>
            </a:xfrm>
            <a:custGeom>
              <a:avLst/>
              <a:gdLst/>
              <a:ahLst/>
              <a:cxnLst/>
              <a:rect l="l" t="t" r="r" b="b"/>
              <a:pathLst>
                <a:path w="21712682" h="926846">
                  <a:moveTo>
                    <a:pt x="0" y="0"/>
                  </a:moveTo>
                  <a:lnTo>
                    <a:pt x="21712682" y="0"/>
                  </a:lnTo>
                  <a:lnTo>
                    <a:pt x="21712682" y="926846"/>
                  </a:lnTo>
                  <a:lnTo>
                    <a:pt x="0" y="92684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45994" y="3410988"/>
            <a:ext cx="6935238" cy="46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 b="1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Command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64513" y="3410988"/>
            <a:ext cx="10192045" cy="46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 b="1">
                <a:solidFill>
                  <a:srgbClr val="E5D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1763" y="4028627"/>
            <a:ext cx="16284473" cy="695173"/>
            <a:chOff x="0" y="0"/>
            <a:chExt cx="21712631" cy="9268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12682" cy="926846"/>
            </a:xfrm>
            <a:custGeom>
              <a:avLst/>
              <a:gdLst/>
              <a:ahLst/>
              <a:cxnLst/>
              <a:rect l="l" t="t" r="r" b="b"/>
              <a:pathLst>
                <a:path w="21712682" h="926846">
                  <a:moveTo>
                    <a:pt x="0" y="0"/>
                  </a:moveTo>
                  <a:lnTo>
                    <a:pt x="21712682" y="0"/>
                  </a:lnTo>
                  <a:lnTo>
                    <a:pt x="21712682" y="926846"/>
                  </a:lnTo>
                  <a:lnTo>
                    <a:pt x="0" y="9268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245994" y="4068070"/>
            <a:ext cx="6935238" cy="50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Consolas"/>
                <a:ea typeface="Consolas"/>
                <a:cs typeface="Consolas"/>
                <a:sym typeface="Consolas"/>
              </a:rPr>
              <a:t>docker compose build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64513" y="4106170"/>
            <a:ext cx="10192045" cy="46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Builds images for all services defined in docker-compose.yml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1763" y="4723800"/>
            <a:ext cx="16284473" cy="695173"/>
            <a:chOff x="0" y="0"/>
            <a:chExt cx="21712631" cy="92689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12682" cy="926846"/>
            </a:xfrm>
            <a:custGeom>
              <a:avLst/>
              <a:gdLst/>
              <a:ahLst/>
              <a:cxnLst/>
              <a:rect l="l" t="t" r="r" b="b"/>
              <a:pathLst>
                <a:path w="21712682" h="926846">
                  <a:moveTo>
                    <a:pt x="0" y="0"/>
                  </a:moveTo>
                  <a:lnTo>
                    <a:pt x="21712682" y="0"/>
                  </a:lnTo>
                  <a:lnTo>
                    <a:pt x="21712682" y="926846"/>
                  </a:lnTo>
                  <a:lnTo>
                    <a:pt x="0" y="92684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245994" y="4763243"/>
            <a:ext cx="6935238" cy="50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Consolas"/>
                <a:ea typeface="Consolas"/>
                <a:cs typeface="Consolas"/>
                <a:sym typeface="Consolas"/>
              </a:rPr>
              <a:t>docker compose up -d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64513" y="4801343"/>
            <a:ext cx="10192045" cy="46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Starts all containers in detached (background) mode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01763" y="5418982"/>
            <a:ext cx="16284473" cy="695173"/>
            <a:chOff x="0" y="0"/>
            <a:chExt cx="21712631" cy="92689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12682" cy="926846"/>
            </a:xfrm>
            <a:custGeom>
              <a:avLst/>
              <a:gdLst/>
              <a:ahLst/>
              <a:cxnLst/>
              <a:rect l="l" t="t" r="r" b="b"/>
              <a:pathLst>
                <a:path w="21712682" h="926846">
                  <a:moveTo>
                    <a:pt x="0" y="0"/>
                  </a:moveTo>
                  <a:lnTo>
                    <a:pt x="21712682" y="0"/>
                  </a:lnTo>
                  <a:lnTo>
                    <a:pt x="21712682" y="926846"/>
                  </a:lnTo>
                  <a:lnTo>
                    <a:pt x="0" y="9268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245994" y="5458416"/>
            <a:ext cx="6935238" cy="50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Consolas"/>
                <a:ea typeface="Consolas"/>
                <a:cs typeface="Consolas"/>
                <a:sym typeface="Consolas"/>
              </a:rPr>
              <a:t>docker ps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64513" y="5496516"/>
            <a:ext cx="10192045" cy="46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Lists all running containers and their status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01763" y="6114155"/>
            <a:ext cx="16284473" cy="695173"/>
            <a:chOff x="0" y="0"/>
            <a:chExt cx="21712631" cy="92689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712682" cy="926846"/>
            </a:xfrm>
            <a:custGeom>
              <a:avLst/>
              <a:gdLst/>
              <a:ahLst/>
              <a:cxnLst/>
              <a:rect l="l" t="t" r="r" b="b"/>
              <a:pathLst>
                <a:path w="21712682" h="926846">
                  <a:moveTo>
                    <a:pt x="0" y="0"/>
                  </a:moveTo>
                  <a:lnTo>
                    <a:pt x="21712682" y="0"/>
                  </a:lnTo>
                  <a:lnTo>
                    <a:pt x="21712682" y="926846"/>
                  </a:lnTo>
                  <a:lnTo>
                    <a:pt x="0" y="92684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245994" y="6153598"/>
            <a:ext cx="6935238" cy="50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Consolas"/>
                <a:ea typeface="Consolas"/>
                <a:cs typeface="Consolas"/>
                <a:sym typeface="Consolas"/>
              </a:rPr>
              <a:t>docker images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64513" y="6191698"/>
            <a:ext cx="10192045" cy="46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Shows all locally stored Docker images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01763" y="6809337"/>
            <a:ext cx="16284473" cy="695173"/>
            <a:chOff x="0" y="0"/>
            <a:chExt cx="21712631" cy="92689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712682" cy="926846"/>
            </a:xfrm>
            <a:custGeom>
              <a:avLst/>
              <a:gdLst/>
              <a:ahLst/>
              <a:cxnLst/>
              <a:rect l="l" t="t" r="r" b="b"/>
              <a:pathLst>
                <a:path w="21712682" h="926846">
                  <a:moveTo>
                    <a:pt x="0" y="0"/>
                  </a:moveTo>
                  <a:lnTo>
                    <a:pt x="21712682" y="0"/>
                  </a:lnTo>
                  <a:lnTo>
                    <a:pt x="21712682" y="926846"/>
                  </a:lnTo>
                  <a:lnTo>
                    <a:pt x="0" y="9268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245994" y="6848770"/>
            <a:ext cx="6935238" cy="50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Consolas"/>
                <a:ea typeface="Consolas"/>
                <a:cs typeface="Consolas"/>
                <a:sym typeface="Consolas"/>
              </a:rPr>
              <a:t>docker logs backend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64513" y="6886870"/>
            <a:ext cx="10192045" cy="46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Displays live log output from the backend container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01763" y="7504509"/>
            <a:ext cx="16284473" cy="695173"/>
            <a:chOff x="0" y="0"/>
            <a:chExt cx="21712631" cy="92689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712682" cy="926846"/>
            </a:xfrm>
            <a:custGeom>
              <a:avLst/>
              <a:gdLst/>
              <a:ahLst/>
              <a:cxnLst/>
              <a:rect l="l" t="t" r="r" b="b"/>
              <a:pathLst>
                <a:path w="21712682" h="926846">
                  <a:moveTo>
                    <a:pt x="0" y="0"/>
                  </a:moveTo>
                  <a:lnTo>
                    <a:pt x="21712682" y="0"/>
                  </a:lnTo>
                  <a:lnTo>
                    <a:pt x="21712682" y="926846"/>
                  </a:lnTo>
                  <a:lnTo>
                    <a:pt x="0" y="92684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245994" y="7543952"/>
            <a:ext cx="6935238" cy="50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Consolas"/>
                <a:ea typeface="Consolas"/>
                <a:cs typeface="Consolas"/>
                <a:sym typeface="Consolas"/>
              </a:rPr>
              <a:t>docker compose down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764513" y="7582052"/>
            <a:ext cx="10192045" cy="46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Stops and removes all containers, networks, and volumes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001763" y="8199682"/>
            <a:ext cx="16284473" cy="695173"/>
            <a:chOff x="0" y="0"/>
            <a:chExt cx="21712631" cy="92689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712682" cy="926846"/>
            </a:xfrm>
            <a:custGeom>
              <a:avLst/>
              <a:gdLst/>
              <a:ahLst/>
              <a:cxnLst/>
              <a:rect l="l" t="t" r="r" b="b"/>
              <a:pathLst>
                <a:path w="21712682" h="926846">
                  <a:moveTo>
                    <a:pt x="0" y="0"/>
                  </a:moveTo>
                  <a:lnTo>
                    <a:pt x="21712682" y="0"/>
                  </a:lnTo>
                  <a:lnTo>
                    <a:pt x="21712682" y="926846"/>
                  </a:lnTo>
                  <a:lnTo>
                    <a:pt x="0" y="9268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245994" y="8239125"/>
            <a:ext cx="6935238" cy="50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Consolas"/>
                <a:ea typeface="Consolas"/>
                <a:cs typeface="Consolas"/>
                <a:sym typeface="Consolas"/>
              </a:rPr>
              <a:t>docker compose restart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764513" y="8277225"/>
            <a:ext cx="10192045" cy="46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Restarts all running service containers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001763" y="8894864"/>
            <a:ext cx="16284473" cy="695173"/>
            <a:chOff x="0" y="0"/>
            <a:chExt cx="21712631" cy="92689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712682" cy="926846"/>
            </a:xfrm>
            <a:custGeom>
              <a:avLst/>
              <a:gdLst/>
              <a:ahLst/>
              <a:cxnLst/>
              <a:rect l="l" t="t" r="r" b="b"/>
              <a:pathLst>
                <a:path w="21712682" h="926846">
                  <a:moveTo>
                    <a:pt x="0" y="0"/>
                  </a:moveTo>
                  <a:lnTo>
                    <a:pt x="21712682" y="0"/>
                  </a:lnTo>
                  <a:lnTo>
                    <a:pt x="21712682" y="926846"/>
                  </a:lnTo>
                  <a:lnTo>
                    <a:pt x="0" y="92684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1245994" y="8934298"/>
            <a:ext cx="6935238" cy="50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Consolas"/>
                <a:ea typeface="Consolas"/>
                <a:cs typeface="Consolas"/>
                <a:sym typeface="Consolas"/>
              </a:rPr>
              <a:t>docker compose build --no-cache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764513" y="8972398"/>
            <a:ext cx="10192045" cy="46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Rebuilds images without using cached layers — ensures fresh builds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D5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0E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76" y="415507"/>
            <a:ext cx="3355924" cy="460050"/>
            <a:chOff x="0" y="0"/>
            <a:chExt cx="1694256" cy="2641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94307" cy="264160"/>
            </a:xfrm>
            <a:custGeom>
              <a:avLst/>
              <a:gdLst/>
              <a:ahLst/>
              <a:cxnLst/>
              <a:rect l="l" t="t" r="r" b="b"/>
              <a:pathLst>
                <a:path w="1694307" h="264160">
                  <a:moveTo>
                    <a:pt x="0" y="58420"/>
                  </a:moveTo>
                  <a:cubicBezTo>
                    <a:pt x="0" y="26162"/>
                    <a:pt x="26162" y="0"/>
                    <a:pt x="58420" y="0"/>
                  </a:cubicBezTo>
                  <a:lnTo>
                    <a:pt x="1635887" y="0"/>
                  </a:lnTo>
                  <a:cubicBezTo>
                    <a:pt x="1668145" y="0"/>
                    <a:pt x="1694307" y="26162"/>
                    <a:pt x="1694307" y="58420"/>
                  </a:cubicBezTo>
                  <a:lnTo>
                    <a:pt x="1694307" y="205740"/>
                  </a:lnTo>
                  <a:cubicBezTo>
                    <a:pt x="1694307" y="237998"/>
                    <a:pt x="1668145" y="264160"/>
                    <a:pt x="1635887" y="264160"/>
                  </a:cubicBezTo>
                  <a:lnTo>
                    <a:pt x="58420" y="264160"/>
                  </a:lnTo>
                  <a:cubicBezTo>
                    <a:pt x="26162" y="264160"/>
                    <a:pt x="0" y="237998"/>
                    <a:pt x="0" y="20574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979" r="3" b="-74964"/>
              </a:stretch>
            </a:blipFill>
            <a:ln w="9526" cap="sq">
              <a:solidFill>
                <a:srgbClr val="EEAEF6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66648" y="709908"/>
            <a:ext cx="2026739" cy="12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6"/>
              </a:lnSpc>
            </a:pPr>
            <a:r>
              <a:rPr lang="en-US" sz="1400" dirty="0">
                <a:solidFill>
                  <a:srgbClr val="EEAEF6"/>
                </a:solidFill>
                <a:latin typeface="Montserrat"/>
                <a:ea typeface="Montserrat"/>
                <a:cs typeface="Montserrat"/>
                <a:sym typeface="Montserrat"/>
              </a:rPr>
              <a:t>CLOUD DEPLOYMENT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885977"/>
            <a:ext cx="16303523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Deploying ResolveX on AWS EC2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238" y="1376210"/>
            <a:ext cx="14630400" cy="8229600"/>
            <a:chOff x="0" y="0"/>
            <a:chExt cx="19507200" cy="109728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92238" y="9675466"/>
            <a:ext cx="17217923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105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Each step ensures a reproducible, production-ready deployment. Docker eliminates environment inconsistencies, while AWS EC2 provides the scalable infrastructure to serve users globally with high availability</a:t>
            </a:r>
            <a:r>
              <a:rPr lang="en-US" sz="900" dirty="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238" y="9893798"/>
            <a:ext cx="16303523" cy="338290"/>
            <a:chOff x="0" y="0"/>
            <a:chExt cx="21738031" cy="4510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38081" cy="451104"/>
            </a:xfrm>
            <a:custGeom>
              <a:avLst/>
              <a:gdLst/>
              <a:ahLst/>
              <a:cxnLst/>
              <a:rect l="l" t="t" r="r" b="b"/>
              <a:pathLst>
                <a:path w="21738081" h="451104">
                  <a:moveTo>
                    <a:pt x="0" y="69469"/>
                  </a:moveTo>
                  <a:cubicBezTo>
                    <a:pt x="0" y="31115"/>
                    <a:pt x="31115" y="0"/>
                    <a:pt x="69469" y="0"/>
                  </a:cubicBezTo>
                  <a:lnTo>
                    <a:pt x="21668612" y="0"/>
                  </a:lnTo>
                  <a:cubicBezTo>
                    <a:pt x="21706967" y="0"/>
                    <a:pt x="21738081" y="31115"/>
                    <a:pt x="21738081" y="69469"/>
                  </a:cubicBezTo>
                  <a:lnTo>
                    <a:pt x="21738081" y="381635"/>
                  </a:lnTo>
                  <a:cubicBezTo>
                    <a:pt x="21738081" y="419989"/>
                    <a:pt x="21706967" y="451104"/>
                    <a:pt x="21668612" y="451104"/>
                  </a:cubicBezTo>
                  <a:lnTo>
                    <a:pt x="69469" y="451104"/>
                  </a:lnTo>
                  <a:cubicBezTo>
                    <a:pt x="31115" y="451104"/>
                    <a:pt x="0" y="419989"/>
                    <a:pt x="0" y="381635"/>
                  </a:cubicBezTo>
                  <a:close/>
                </a:path>
              </a:pathLst>
            </a:custGeom>
            <a:solidFill>
              <a:srgbClr val="670D73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116206" y="10048723"/>
            <a:ext cx="154934" cy="123977"/>
            <a:chOff x="0" y="0"/>
            <a:chExt cx="206578" cy="165303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206629" cy="165354"/>
            </a:xfrm>
            <a:custGeom>
              <a:avLst/>
              <a:gdLst/>
              <a:ahLst/>
              <a:cxnLst/>
              <a:rect l="l" t="t" r="r" b="b"/>
              <a:pathLst>
                <a:path w="206629" h="165354">
                  <a:moveTo>
                    <a:pt x="0" y="0"/>
                  </a:moveTo>
                  <a:lnTo>
                    <a:pt x="206629" y="0"/>
                  </a:lnTo>
                  <a:lnTo>
                    <a:pt x="206629" y="165354"/>
                  </a:lnTo>
                  <a:lnTo>
                    <a:pt x="0" y="165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59" r="24" b="-1420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395117" y="9986667"/>
            <a:ext cx="16691077" cy="1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containers are connected via a Docker bridge network, allowing the backend to communicate securely with MongoDB while Nginx proxies external traffic to the React frontend.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D5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0E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76" y="1049236"/>
            <a:ext cx="2983859" cy="386658"/>
            <a:chOff x="0" y="0"/>
            <a:chExt cx="3978478" cy="5155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78402" cy="515493"/>
            </a:xfrm>
            <a:custGeom>
              <a:avLst/>
              <a:gdLst/>
              <a:ahLst/>
              <a:cxnLst/>
              <a:rect l="l" t="t" r="r" b="b"/>
              <a:pathLst>
                <a:path w="3978402" h="515493">
                  <a:moveTo>
                    <a:pt x="0" y="113919"/>
                  </a:moveTo>
                  <a:cubicBezTo>
                    <a:pt x="0" y="51054"/>
                    <a:pt x="51054" y="0"/>
                    <a:pt x="113919" y="0"/>
                  </a:cubicBezTo>
                  <a:lnTo>
                    <a:pt x="3864483" y="0"/>
                  </a:lnTo>
                  <a:cubicBezTo>
                    <a:pt x="3927475" y="0"/>
                    <a:pt x="3978402" y="51054"/>
                    <a:pt x="3978402" y="113919"/>
                  </a:cubicBezTo>
                  <a:lnTo>
                    <a:pt x="3978402" y="401574"/>
                  </a:lnTo>
                  <a:cubicBezTo>
                    <a:pt x="3978402" y="464566"/>
                    <a:pt x="3927348" y="515493"/>
                    <a:pt x="3864483" y="515493"/>
                  </a:cubicBezTo>
                  <a:lnTo>
                    <a:pt x="113919" y="515493"/>
                  </a:lnTo>
                  <a:cubicBezTo>
                    <a:pt x="51054" y="515493"/>
                    <a:pt x="0" y="464566"/>
                    <a:pt x="0" y="40157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0376" r="-1" b="-100386"/>
              </a:stretch>
            </a:blipFill>
            <a:ln w="9526" cap="sq">
              <a:solidFill>
                <a:srgbClr val="EEAEF6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141066" y="1128417"/>
            <a:ext cx="3591077" cy="22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500">
                <a:solidFill>
                  <a:srgbClr val="EEAEF6"/>
                </a:solidFill>
                <a:latin typeface="Montserrat"/>
                <a:ea typeface="Montserrat"/>
                <a:cs typeface="Montserrat"/>
                <a:sym typeface="Montserrat"/>
              </a:rPr>
              <a:t>FEATURES &amp; CHALLENGES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501673"/>
            <a:ext cx="16303523" cy="80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Platform Features &amp; Lessons Learned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13645" y="2677420"/>
            <a:ext cx="8206378" cy="6555429"/>
            <a:chOff x="0" y="0"/>
            <a:chExt cx="10941837" cy="87405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41812" cy="8740521"/>
            </a:xfrm>
            <a:custGeom>
              <a:avLst/>
              <a:gdLst/>
              <a:ahLst/>
              <a:cxnLst/>
              <a:rect l="l" t="t" r="r" b="b"/>
              <a:pathLst>
                <a:path w="10941812" h="8740521">
                  <a:moveTo>
                    <a:pt x="0" y="238125"/>
                  </a:moveTo>
                  <a:cubicBezTo>
                    <a:pt x="0" y="106680"/>
                    <a:pt x="106680" y="0"/>
                    <a:pt x="238125" y="0"/>
                  </a:cubicBezTo>
                  <a:lnTo>
                    <a:pt x="10703687" y="0"/>
                  </a:lnTo>
                  <a:cubicBezTo>
                    <a:pt x="10835259" y="0"/>
                    <a:pt x="10941812" y="106680"/>
                    <a:pt x="10941812" y="238125"/>
                  </a:cubicBezTo>
                  <a:lnTo>
                    <a:pt x="10941812" y="8502396"/>
                  </a:lnTo>
                  <a:cubicBezTo>
                    <a:pt x="10941812" y="8633968"/>
                    <a:pt x="10835132" y="8740521"/>
                    <a:pt x="10703687" y="8740521"/>
                  </a:cubicBezTo>
                  <a:lnTo>
                    <a:pt x="238125" y="8740521"/>
                  </a:lnTo>
                  <a:cubicBezTo>
                    <a:pt x="106680" y="8740521"/>
                    <a:pt x="0" y="8633968"/>
                    <a:pt x="0" y="8502396"/>
                  </a:cubicBezTo>
                  <a:close/>
                </a:path>
              </a:pathLst>
            </a:custGeom>
            <a:solidFill>
              <a:srgbClr val="EEAEF6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61590" y="2915841"/>
            <a:ext cx="7710488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🎓 Student Module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1590" y="3494332"/>
            <a:ext cx="7710488" cy="144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Secure registration and login with JWT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Submit and track complaints in real time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View full complaint history and status updates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1590" y="5173266"/>
            <a:ext cx="7710488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🔧 Admin Module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1590" y="5751757"/>
            <a:ext cx="7710488" cy="144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Centralized dashboard with complaint analytics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Manage users and update complaint status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Generate reports and monitor system health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56096" y="2915841"/>
            <a:ext cx="7849200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⚠️</a:t>
            </a:r>
            <a:r>
              <a:rPr lang="en-US" sz="240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Challenges Encountered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56096" y="3494332"/>
            <a:ext cx="7849200" cy="241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Missing Docker dependencies during container build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Missing .env configuration causing connection failures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Import path issues between frontend and backend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Nginx port conflicts on the host machine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Backend container restart loops and health check failures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56096" y="6150169"/>
            <a:ext cx="7849200" cy="40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✅</a:t>
            </a:r>
            <a:r>
              <a:rPr lang="en-US" sz="240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Solutions Applied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56096" y="6728670"/>
            <a:ext cx="7849200" cy="241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Added missing packages to Dockerfiles explicitly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Configured and validated all environment variables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Fixed import paths and rebuilt affected images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Resolved port conflicts by remapping host ports</a:t>
            </a:r>
          </a:p>
          <a:p>
            <a:pPr marL="458470" lvl="1" indent="-229235" algn="l">
              <a:lnSpc>
                <a:spcPts val="3032"/>
              </a:lnSpc>
              <a:buFont typeface="Arial"/>
              <a:buChar char="•"/>
            </a:pPr>
            <a:r>
              <a:rPr lang="en-US" sz="1900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Verified container health with docker logs and docker inspect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82D5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0E3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76" y="313583"/>
            <a:ext cx="3372450" cy="702316"/>
            <a:chOff x="0" y="0"/>
            <a:chExt cx="3429394" cy="3815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29381" cy="381635"/>
            </a:xfrm>
            <a:custGeom>
              <a:avLst/>
              <a:gdLst/>
              <a:ahLst/>
              <a:cxnLst/>
              <a:rect l="l" t="t" r="r" b="b"/>
              <a:pathLst>
                <a:path w="3429381" h="381635">
                  <a:moveTo>
                    <a:pt x="0" y="84455"/>
                  </a:moveTo>
                  <a:cubicBezTo>
                    <a:pt x="0" y="37846"/>
                    <a:pt x="37846" y="0"/>
                    <a:pt x="84455" y="0"/>
                  </a:cubicBezTo>
                  <a:lnTo>
                    <a:pt x="3344926" y="0"/>
                  </a:lnTo>
                  <a:cubicBezTo>
                    <a:pt x="3391535" y="0"/>
                    <a:pt x="3429381" y="37846"/>
                    <a:pt x="3429381" y="84455"/>
                  </a:cubicBezTo>
                  <a:lnTo>
                    <a:pt x="3429381" y="297180"/>
                  </a:lnTo>
                  <a:cubicBezTo>
                    <a:pt x="3429381" y="343789"/>
                    <a:pt x="3391535" y="381635"/>
                    <a:pt x="3344926" y="381635"/>
                  </a:cubicBezTo>
                  <a:lnTo>
                    <a:pt x="84455" y="381635"/>
                  </a:lnTo>
                  <a:cubicBezTo>
                    <a:pt x="37846" y="381635"/>
                    <a:pt x="0" y="343789"/>
                    <a:pt x="0" y="29718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098" b="-125088"/>
              </a:stretch>
            </a:blipFill>
            <a:ln w="9526" cap="sq">
              <a:solidFill>
                <a:srgbClr val="EEAEF6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101481" y="789089"/>
            <a:ext cx="3258445" cy="16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400" dirty="0">
                <a:solidFill>
                  <a:srgbClr val="EEAEF6"/>
                </a:solidFill>
                <a:latin typeface="Montserrat"/>
                <a:ea typeface="Montserrat"/>
                <a:cs typeface="Montserrat"/>
                <a:sym typeface="Montserrat"/>
              </a:rPr>
              <a:t>FUTURE SCOPE &amp; 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045521"/>
            <a:ext cx="16303523" cy="588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3500">
                <a:solidFill>
                  <a:srgbClr val="EEAEF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What's Next — and Key Takeaways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238" y="1834458"/>
            <a:ext cx="8084791" cy="1234526"/>
            <a:chOff x="0" y="0"/>
            <a:chExt cx="10779722" cy="16460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79633" cy="1646047"/>
            </a:xfrm>
            <a:custGeom>
              <a:avLst/>
              <a:gdLst/>
              <a:ahLst/>
              <a:cxnLst/>
              <a:rect l="l" t="t" r="r" b="b"/>
              <a:pathLst>
                <a:path w="10779633" h="1646047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0677652" y="0"/>
                  </a:lnTo>
                  <a:cubicBezTo>
                    <a:pt x="10734040" y="0"/>
                    <a:pt x="10779633" y="45720"/>
                    <a:pt x="10779633" y="101981"/>
                  </a:cubicBezTo>
                  <a:lnTo>
                    <a:pt x="10779633" y="1544066"/>
                  </a:lnTo>
                  <a:cubicBezTo>
                    <a:pt x="10779633" y="1600454"/>
                    <a:pt x="10733913" y="1646047"/>
                    <a:pt x="10677652" y="1646047"/>
                  </a:cubicBezTo>
                  <a:lnTo>
                    <a:pt x="101981" y="1646047"/>
                  </a:lnTo>
                  <a:cubicBezTo>
                    <a:pt x="45593" y="1646047"/>
                    <a:pt x="0" y="1600327"/>
                    <a:pt x="0" y="1544066"/>
                  </a:cubicBezTo>
                  <a:close/>
                </a:path>
              </a:pathLst>
            </a:custGeom>
            <a:solidFill>
              <a:srgbClr val="282D5E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74404" y="1997573"/>
            <a:ext cx="7720460" cy="30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🚀</a:t>
            </a:r>
            <a:r>
              <a:rPr lang="en-US" sz="17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Kubernetes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4404" y="2352827"/>
            <a:ext cx="7720460" cy="533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9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Automated scaling, self-healing, and rolling deployments for production-grade orchestration.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10827" y="1834458"/>
            <a:ext cx="8084944" cy="1234526"/>
            <a:chOff x="0" y="0"/>
            <a:chExt cx="10779925" cy="164603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79888" cy="1646047"/>
            </a:xfrm>
            <a:custGeom>
              <a:avLst/>
              <a:gdLst/>
              <a:ahLst/>
              <a:cxnLst/>
              <a:rect l="l" t="t" r="r" b="b"/>
              <a:pathLst>
                <a:path w="10779888" h="1646047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0677906" y="0"/>
                  </a:lnTo>
                  <a:cubicBezTo>
                    <a:pt x="10734294" y="0"/>
                    <a:pt x="10779888" y="45720"/>
                    <a:pt x="10779888" y="101981"/>
                  </a:cubicBezTo>
                  <a:lnTo>
                    <a:pt x="10779888" y="1544066"/>
                  </a:lnTo>
                  <a:cubicBezTo>
                    <a:pt x="10779888" y="1600454"/>
                    <a:pt x="10734167" y="1646047"/>
                    <a:pt x="10677906" y="1646047"/>
                  </a:cubicBezTo>
                  <a:lnTo>
                    <a:pt x="101981" y="1646047"/>
                  </a:lnTo>
                  <a:cubicBezTo>
                    <a:pt x="45593" y="1646047"/>
                    <a:pt x="0" y="1600327"/>
                    <a:pt x="0" y="1544066"/>
                  </a:cubicBezTo>
                  <a:close/>
                </a:path>
              </a:pathLst>
            </a:custGeom>
            <a:solidFill>
              <a:srgbClr val="282D5E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9392993" y="1997573"/>
            <a:ext cx="7720613" cy="30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⚙️</a:t>
            </a:r>
            <a:r>
              <a:rPr lang="en-US" sz="17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CI/CD Pipeline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2993" y="2352827"/>
            <a:ext cx="7720613" cy="533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9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Jenkins and GitHub Actions for automated testing, building, and deployment on every commit.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92238" y="3202781"/>
            <a:ext cx="8084791" cy="1234526"/>
            <a:chOff x="0" y="0"/>
            <a:chExt cx="10779722" cy="16460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79633" cy="1646047"/>
            </a:xfrm>
            <a:custGeom>
              <a:avLst/>
              <a:gdLst/>
              <a:ahLst/>
              <a:cxnLst/>
              <a:rect l="l" t="t" r="r" b="b"/>
              <a:pathLst>
                <a:path w="10779633" h="1646047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0677652" y="0"/>
                  </a:lnTo>
                  <a:cubicBezTo>
                    <a:pt x="10734040" y="0"/>
                    <a:pt x="10779633" y="45720"/>
                    <a:pt x="10779633" y="101981"/>
                  </a:cubicBezTo>
                  <a:lnTo>
                    <a:pt x="10779633" y="1544066"/>
                  </a:lnTo>
                  <a:cubicBezTo>
                    <a:pt x="10779633" y="1600454"/>
                    <a:pt x="10733913" y="1646047"/>
                    <a:pt x="10677652" y="1646047"/>
                  </a:cubicBezTo>
                  <a:lnTo>
                    <a:pt x="101981" y="1646047"/>
                  </a:lnTo>
                  <a:cubicBezTo>
                    <a:pt x="45593" y="1646047"/>
                    <a:pt x="0" y="1600327"/>
                    <a:pt x="0" y="1544066"/>
                  </a:cubicBezTo>
                  <a:close/>
                </a:path>
              </a:pathLst>
            </a:custGeom>
            <a:solidFill>
              <a:srgbClr val="282D5E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74404" y="3365897"/>
            <a:ext cx="7720460" cy="30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📊</a:t>
            </a:r>
            <a:r>
              <a:rPr lang="en-US" sz="17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Monitoring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4404" y="3721151"/>
            <a:ext cx="7720460" cy="28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9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Prometheus and Grafana for real-time metrics, alerting, and system observability.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10827" y="3202781"/>
            <a:ext cx="8084944" cy="1234526"/>
            <a:chOff x="0" y="0"/>
            <a:chExt cx="10779925" cy="16460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79888" cy="1646047"/>
            </a:xfrm>
            <a:custGeom>
              <a:avLst/>
              <a:gdLst/>
              <a:ahLst/>
              <a:cxnLst/>
              <a:rect l="l" t="t" r="r" b="b"/>
              <a:pathLst>
                <a:path w="10779888" h="1646047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0677906" y="0"/>
                  </a:lnTo>
                  <a:cubicBezTo>
                    <a:pt x="10734294" y="0"/>
                    <a:pt x="10779888" y="45720"/>
                    <a:pt x="10779888" y="101981"/>
                  </a:cubicBezTo>
                  <a:lnTo>
                    <a:pt x="10779888" y="1544066"/>
                  </a:lnTo>
                  <a:cubicBezTo>
                    <a:pt x="10779888" y="1600454"/>
                    <a:pt x="10734167" y="1646047"/>
                    <a:pt x="10677906" y="1646047"/>
                  </a:cubicBezTo>
                  <a:lnTo>
                    <a:pt x="101981" y="1646047"/>
                  </a:lnTo>
                  <a:cubicBezTo>
                    <a:pt x="45593" y="1646047"/>
                    <a:pt x="0" y="1600327"/>
                    <a:pt x="0" y="1544066"/>
                  </a:cubicBezTo>
                  <a:close/>
                </a:path>
              </a:pathLst>
            </a:custGeom>
            <a:solidFill>
              <a:srgbClr val="282D5E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9392993" y="3365897"/>
            <a:ext cx="7720613" cy="30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🤖</a:t>
            </a:r>
            <a:r>
              <a:rPr lang="en-US" sz="17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AI Classification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92993" y="3721151"/>
            <a:ext cx="7720613" cy="533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9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to auto-categorize complaints and prioritize urgent issues intelligently.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92238" y="4587773"/>
            <a:ext cx="19050" cy="1059056"/>
            <a:chOff x="0" y="0"/>
            <a:chExt cx="25400" cy="141207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400" cy="1412113"/>
            </a:xfrm>
            <a:custGeom>
              <a:avLst/>
              <a:gdLst/>
              <a:ahLst/>
              <a:cxnLst/>
              <a:rect l="l" t="t" r="r" b="b"/>
              <a:pathLst>
                <a:path w="25400" h="1412113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399413"/>
                  </a:lnTo>
                  <a:cubicBezTo>
                    <a:pt x="25400" y="1406398"/>
                    <a:pt x="19685" y="1412113"/>
                    <a:pt x="12700" y="1412113"/>
                  </a:cubicBezTo>
                  <a:cubicBezTo>
                    <a:pt x="5715" y="1412113"/>
                    <a:pt x="0" y="1406398"/>
                    <a:pt x="0" y="1399413"/>
                  </a:cubicBezTo>
                  <a:close/>
                </a:path>
              </a:pathLst>
            </a:custGeom>
            <a:solidFill>
              <a:srgbClr val="EEAEF6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265482" y="4709665"/>
            <a:ext cx="16030280" cy="78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9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ResolveX successfully demonstrates how a full-stack application can be transformed into a scalable, cloud-native solution using Docker containers and AWS EC2 — following DevOps best practices. The project highlights practical implementation of containerization, cloud deployment, version control, and scalable architecture suitable for enterprise environments.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238" y="5974109"/>
            <a:ext cx="8068123" cy="51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47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2238" y="6661995"/>
            <a:ext cx="8068123" cy="30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1"/>
              </a:lnSpc>
            </a:pPr>
            <a:r>
              <a:rPr lang="en-US" sz="17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Docker Containers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238" y="7017248"/>
            <a:ext cx="8068123" cy="28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8"/>
              </a:lnSpc>
            </a:pPr>
            <a:r>
              <a:rPr lang="en-US" sz="1399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Frontend, Backend, MongoDB, Nginx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27496" y="5974109"/>
            <a:ext cx="8068266" cy="51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47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9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27496" y="6661995"/>
            <a:ext cx="8068266" cy="30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1"/>
              </a:lnSpc>
            </a:pPr>
            <a:r>
              <a:rPr lang="en-US" sz="17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Technologies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27496" y="7017248"/>
            <a:ext cx="8068266" cy="28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8"/>
              </a:lnSpc>
            </a:pPr>
            <a:r>
              <a:rPr lang="en-US" sz="1399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Full modern cloud-native stack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2238" y="7742930"/>
            <a:ext cx="8068123" cy="51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47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2238" y="8430816"/>
            <a:ext cx="8068123" cy="30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1"/>
              </a:lnSpc>
            </a:pPr>
            <a:r>
              <a:rPr lang="en-US" sz="17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Cloud Platform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92238" y="8786070"/>
            <a:ext cx="8068123" cy="28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8"/>
              </a:lnSpc>
            </a:pPr>
            <a:r>
              <a:rPr lang="en-US" sz="1399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AWS EC2 production deployment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227496" y="7742930"/>
            <a:ext cx="8068266" cy="51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47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100%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227496" y="8430816"/>
            <a:ext cx="8068266" cy="30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1"/>
              </a:lnSpc>
            </a:pPr>
            <a:r>
              <a:rPr lang="en-US" sz="1700">
                <a:solidFill>
                  <a:srgbClr val="E5DCE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Containerized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227496" y="8786070"/>
            <a:ext cx="8068266" cy="28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8"/>
              </a:lnSpc>
            </a:pPr>
            <a:r>
              <a:rPr lang="en-US" sz="1399">
                <a:solidFill>
                  <a:srgbClr val="E5DCE6"/>
                </a:solidFill>
                <a:latin typeface="Montserrat"/>
                <a:ea typeface="Montserrat"/>
                <a:cs typeface="Montserrat"/>
                <a:sym typeface="Montserrat"/>
              </a:rPr>
              <a:t>Fully reproducible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1176</Words>
  <Application>Microsoft Office PowerPoint</Application>
  <PresentationFormat>Custom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Bricolage Grotesque</vt:lpstr>
      <vt:lpstr>Montserrat</vt:lpstr>
      <vt:lpstr>Consolas</vt:lpstr>
      <vt:lpstr>Arial</vt:lpstr>
      <vt:lpstr>Montserrat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Design-and-Deploy-Scalable-Cloud-Native-Applications-Using-Docker.pptx</dc:title>
  <dc:creator>KHUSHBOO</dc:creator>
  <cp:lastModifiedBy>khushbooshukla299@outlook.com</cp:lastModifiedBy>
  <cp:revision>3</cp:revision>
  <dcterms:created xsi:type="dcterms:W3CDTF">2006-08-16T00:00:00Z</dcterms:created>
  <dcterms:modified xsi:type="dcterms:W3CDTF">2026-07-19T11:05:49Z</dcterms:modified>
  <dc:identifier>DAHPn3CDeMo</dc:identifier>
</cp:coreProperties>
</file>